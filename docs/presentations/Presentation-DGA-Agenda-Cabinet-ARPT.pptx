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3D28"/>
          </a:solidFill>
          <a:ln w="12700">
            <a:solidFill>
              <a:srgbClr val="0F3D28"/>
            </a:solidFill>
            <a:prstDash val="solid"/>
          </a:ln>
        </p:spPr>
      </p:sp>
      <p:sp>
        <p:nvSpPr>
          <p:cNvPr id="3" name="Shape 1"/>
          <p:cNvSpPr/>
          <p:nvPr/>
        </p:nvSpPr>
        <p:spPr>
          <a:xfrm>
            <a:off x="0" y="5394960"/>
            <a:ext cx="12191695" cy="1463040"/>
          </a:xfrm>
          <a:prstGeom prst="rect">
            <a:avLst/>
          </a:prstGeom>
          <a:solidFill>
            <a:srgbClr val="1B5E3B"/>
          </a:solidFill>
          <a:ln w="12700">
            <a:solidFill>
              <a:srgbClr val="1B5E3B"/>
            </a:solidFill>
            <a:prstDash val="solid"/>
          </a:ln>
        </p:spPr>
      </p:sp>
      <p:sp>
        <p:nvSpPr>
          <p:cNvPr id="4" name="Text 2"/>
          <p:cNvSpPr/>
          <p:nvPr/>
        </p:nvSpPr>
        <p:spPr>
          <a:xfrm>
            <a:off x="731520" y="1280160"/>
            <a:ext cx="10515600" cy="365760"/>
          </a:xfrm>
          <a:prstGeom prst="rect">
            <a:avLst/>
          </a:prstGeom>
          <a:noFill/>
          <a:ln/>
        </p:spPr>
        <p:txBody>
          <a:bodyPr wrap="square" rtlCol="0" anchor="ctr"/>
          <a:lstStyle/>
          <a:p>
            <a:pPr indent="0" marL="0">
              <a:buNone/>
            </a:pPr>
            <a:r>
              <a:rPr lang="en-US" sz="1600" dirty="0">
                <a:solidFill>
                  <a:srgbClr val="A8D5BE"/>
                </a:solidFill>
                <a:latin typeface="Calibri" pitchFamily="34" charset="0"/>
                <a:ea typeface="Calibri" pitchFamily="34" charset="-122"/>
                <a:cs typeface="Calibri" pitchFamily="34" charset="-120"/>
              </a:rPr>
              <a:t>ARPT — Direction Générale</a:t>
            </a:r>
            <a:endParaRPr lang="en-US" sz="1600" dirty="0"/>
          </a:p>
        </p:txBody>
      </p:sp>
      <p:sp>
        <p:nvSpPr>
          <p:cNvPr id="5" name="Text 3"/>
          <p:cNvSpPr/>
          <p:nvPr/>
        </p:nvSpPr>
        <p:spPr>
          <a:xfrm>
            <a:off x="731520" y="1828800"/>
            <a:ext cx="10515600" cy="1645920"/>
          </a:xfrm>
          <a:prstGeom prst="rect">
            <a:avLst/>
          </a:prstGeom>
          <a:noFill/>
          <a:ln/>
        </p:spPr>
        <p:txBody>
          <a:bodyPr wrap="square"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Plateforme de gestion</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de l’agenda du DGA</a:t>
            </a:r>
            <a:endParaRPr lang="en-US" sz="4000" dirty="0"/>
          </a:p>
        </p:txBody>
      </p:sp>
      <p:sp>
        <p:nvSpPr>
          <p:cNvPr id="6" name="Text 4"/>
          <p:cNvSpPr/>
          <p:nvPr/>
        </p:nvSpPr>
        <p:spPr>
          <a:xfrm>
            <a:off x="731520" y="3749040"/>
            <a:ext cx="10515600" cy="365760"/>
          </a:xfrm>
          <a:prstGeom prst="rect">
            <a:avLst/>
          </a:prstGeom>
          <a:noFill/>
          <a:ln/>
        </p:spPr>
        <p:txBody>
          <a:bodyPr wrap="square" rtlCol="0" anchor="ctr"/>
          <a:lstStyle/>
          <a:p>
            <a:pPr indent="0" marL="0">
              <a:buNone/>
            </a:pPr>
            <a:r>
              <a:rPr lang="en-US" sz="1800" dirty="0">
                <a:solidFill>
                  <a:srgbClr val="D7EDE2"/>
                </a:solidFill>
                <a:latin typeface="Calibri" pitchFamily="34" charset="0"/>
                <a:ea typeface="Calibri" pitchFamily="34" charset="-122"/>
                <a:cs typeface="Calibri" pitchFamily="34" charset="-120"/>
              </a:rPr>
              <a:t>Gain de temps  ·  Traçabilité  ·  Aide à la décision</a:t>
            </a:r>
            <a:endParaRPr lang="en-US" sz="1800" dirty="0"/>
          </a:p>
        </p:txBody>
      </p:sp>
      <p:sp>
        <p:nvSpPr>
          <p:cNvPr id="7" name="Text 5"/>
          <p:cNvSpPr/>
          <p:nvPr/>
        </p:nvSpPr>
        <p:spPr>
          <a:xfrm>
            <a:off x="731520" y="5806440"/>
            <a:ext cx="10515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Présentation au Directeur Général Adjoint  ·  06 août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64592" cy="6858000"/>
          </a:xfrm>
          <a:prstGeom prst="rect">
            <a:avLst/>
          </a:prstGeom>
          <a:solidFill>
            <a:srgbClr val="1B5E3B"/>
          </a:solidFill>
          <a:ln w="12700">
            <a:solidFill>
              <a:srgbClr val="1B5E3B"/>
            </a:solidFill>
            <a:prstDash val="solid"/>
          </a:ln>
        </p:spPr>
      </p:sp>
      <p:sp>
        <p:nvSpPr>
          <p:cNvPr id="4" name="Text 2"/>
          <p:cNvSpPr/>
          <p:nvPr/>
        </p:nvSpPr>
        <p:spPr>
          <a:xfrm>
            <a:off x="640080" y="320040"/>
            <a:ext cx="10515600" cy="365760"/>
          </a:xfrm>
          <a:prstGeom prst="rect">
            <a:avLst/>
          </a:prstGeom>
          <a:noFill/>
          <a:ln/>
        </p:spPr>
        <p:txBody>
          <a:bodyPr wrap="square" rtlCol="0" anchor="ctr"/>
          <a:lstStyle/>
          <a:p>
            <a:pPr indent="0" marL="0">
              <a:buNone/>
            </a:pPr>
            <a:r>
              <a:rPr lang="en-US" sz="1400" b="1" dirty="0">
                <a:solidFill>
                  <a:srgbClr val="1B5E3B"/>
                </a:solidFill>
                <a:latin typeface="Calibri" pitchFamily="34" charset="0"/>
                <a:ea typeface="Calibri" pitchFamily="34" charset="-122"/>
                <a:cs typeface="Calibri" pitchFamily="34" charset="-120"/>
              </a:rPr>
              <a:t>01  ·  Le problème actuel</a:t>
            </a:r>
            <a:endParaRPr lang="en-US" sz="1400" dirty="0"/>
          </a:p>
        </p:txBody>
      </p:sp>
      <p:sp>
        <p:nvSpPr>
          <p:cNvPr id="5" name="Text 3"/>
          <p:cNvSpPr/>
          <p:nvPr/>
        </p:nvSpPr>
        <p:spPr>
          <a:xfrm>
            <a:off x="640080" y="685800"/>
            <a:ext cx="10515600" cy="502920"/>
          </a:xfrm>
          <a:prstGeom prst="rect">
            <a:avLst/>
          </a:prstGeom>
          <a:noFill/>
          <a:ln/>
        </p:spPr>
        <p:txBody>
          <a:bodyPr wrap="square" rtlCol="0" anchor="ctr"/>
          <a:lstStyle/>
          <a:p>
            <a:pPr indent="0" marL="0">
              <a:buNone/>
            </a:pPr>
            <a:r>
              <a:rPr lang="en-US" sz="2800" b="1" dirty="0">
                <a:solidFill>
                  <a:srgbClr val="0F3D28"/>
                </a:solidFill>
                <a:latin typeface="Calibri" pitchFamily="34" charset="0"/>
                <a:ea typeface="Calibri" pitchFamily="34" charset="-122"/>
                <a:cs typeface="Calibri" pitchFamily="34" charset="-120"/>
              </a:rPr>
              <a:t>Les limites naturelles de l’organisation actuelle</a:t>
            </a:r>
            <a:endParaRPr lang="en-US" sz="2800" dirty="0"/>
          </a:p>
        </p:txBody>
      </p:sp>
      <p:sp>
        <p:nvSpPr>
          <p:cNvPr id="6" name="Shape 4"/>
          <p:cNvSpPr/>
          <p:nvPr/>
        </p:nvSpPr>
        <p:spPr>
          <a:xfrm>
            <a:off x="640080" y="1371600"/>
            <a:ext cx="10881360" cy="1554480"/>
          </a:xfrm>
          <a:prstGeom prst="roundRect">
            <a:avLst>
              <a:gd name="adj" fmla="val 5882"/>
            </a:avLst>
          </a:prstGeom>
          <a:solidFill>
            <a:srgbClr val="E8F5EE"/>
          </a:solidFill>
          <a:ln w="12700">
            <a:solidFill>
              <a:srgbClr val="D5E5DB"/>
            </a:solidFill>
            <a:prstDash val="solid"/>
          </a:ln>
        </p:spPr>
      </p:sp>
      <p:sp>
        <p:nvSpPr>
          <p:cNvPr id="7" name="Text 5"/>
          <p:cNvSpPr/>
          <p:nvPr/>
        </p:nvSpPr>
        <p:spPr>
          <a:xfrm>
            <a:off x="868680" y="1508760"/>
            <a:ext cx="10424160" cy="128016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Monsieur le Directeur Général Adjoint, aujourd’hui, la gestion de l’agenda repose sur plusieurs échanges de courriers, d’appels téléphoniques, de WhatsApp ou de mails. Cela rend parfois le suivi difficile, augmente le temps de traitement des demandes et complique la recherche d’informations lorsqu’il faut revenir sur un ancien rendez-vous.</a:t>
            </a:r>
            <a:endParaRPr lang="en-US" sz="1500" dirty="0"/>
          </a:p>
        </p:txBody>
      </p:sp>
      <p:sp>
        <p:nvSpPr>
          <p:cNvPr id="8" name="Shape 6"/>
          <p:cNvSpPr/>
          <p:nvPr/>
        </p:nvSpPr>
        <p:spPr>
          <a:xfrm>
            <a:off x="640080" y="3200400"/>
            <a:ext cx="3520440" cy="2651760"/>
          </a:xfrm>
          <a:prstGeom prst="roundRect">
            <a:avLst>
              <a:gd name="adj" fmla="val 3448"/>
            </a:avLst>
          </a:prstGeom>
          <a:solidFill>
            <a:srgbClr val="FFFFFF"/>
          </a:solidFill>
          <a:ln w="12700">
            <a:solidFill>
              <a:srgbClr val="D5E5DB"/>
            </a:solidFill>
            <a:prstDash val="solid"/>
          </a:ln>
        </p:spPr>
      </p:sp>
      <p:sp>
        <p:nvSpPr>
          <p:cNvPr id="9" name="Shape 7"/>
          <p:cNvSpPr/>
          <p:nvPr/>
        </p:nvSpPr>
        <p:spPr>
          <a:xfrm>
            <a:off x="640080" y="3200400"/>
            <a:ext cx="3520440" cy="109728"/>
          </a:xfrm>
          <a:prstGeom prst="rect">
            <a:avLst/>
          </a:prstGeom>
          <a:solidFill>
            <a:srgbClr val="1B5E3B"/>
          </a:solidFill>
          <a:ln w="12700">
            <a:solidFill>
              <a:srgbClr val="1B5E3B"/>
            </a:solidFill>
            <a:prstDash val="solid"/>
          </a:ln>
        </p:spPr>
      </p:sp>
      <p:sp>
        <p:nvSpPr>
          <p:cNvPr id="10" name="Text 8"/>
          <p:cNvSpPr/>
          <p:nvPr/>
        </p:nvSpPr>
        <p:spPr>
          <a:xfrm>
            <a:off x="868680" y="3520440"/>
            <a:ext cx="3063240" cy="457200"/>
          </a:xfrm>
          <a:prstGeom prst="rect">
            <a:avLst/>
          </a:prstGeom>
          <a:noFill/>
          <a:ln/>
        </p:spPr>
        <p:txBody>
          <a:bodyPr wrap="square" rtlCol="0" anchor="ctr"/>
          <a:lstStyle/>
          <a:p>
            <a:pPr indent="0" marL="0">
              <a:buNone/>
            </a:pPr>
            <a:r>
              <a:rPr lang="en-US" sz="1800" b="1" dirty="0">
                <a:solidFill>
                  <a:srgbClr val="0F3D28"/>
                </a:solidFill>
                <a:latin typeface="Calibri" pitchFamily="34" charset="0"/>
                <a:ea typeface="Calibri" pitchFamily="34" charset="-122"/>
                <a:cs typeface="Calibri" pitchFamily="34" charset="-120"/>
              </a:rPr>
              <a:t>Canaux multiples</a:t>
            </a:r>
            <a:endParaRPr lang="en-US" sz="1800" dirty="0"/>
          </a:p>
        </p:txBody>
      </p:sp>
      <p:sp>
        <p:nvSpPr>
          <p:cNvPr id="11" name="Text 9"/>
          <p:cNvSpPr/>
          <p:nvPr/>
        </p:nvSpPr>
        <p:spPr>
          <a:xfrm>
            <a:off x="868680" y="4069080"/>
            <a:ext cx="3063240" cy="1371600"/>
          </a:xfrm>
          <a:prstGeom prst="rect">
            <a:avLst/>
          </a:prstGeom>
          <a:noFill/>
          <a:ln/>
        </p:spPr>
        <p:txBody>
          <a:bodyPr wrap="square" rtlCol="0" anchor="ctr"/>
          <a:lstStyle/>
          <a:p>
            <a:pPr indent="0" marL="0">
              <a:buNone/>
            </a:pPr>
            <a:r>
              <a:rPr lang="en-US" sz="1400" dirty="0">
                <a:solidFill>
                  <a:srgbClr val="5B6B63"/>
                </a:solidFill>
                <a:latin typeface="Calibri" pitchFamily="34" charset="0"/>
                <a:ea typeface="Calibri" pitchFamily="34" charset="-122"/>
                <a:cs typeface="Calibri" pitchFamily="34" charset="-120"/>
              </a:rPr>
              <a:t>Courriers, appels, WhatsApp et mails coexistent pour une même demande.</a:t>
            </a:r>
            <a:endParaRPr lang="en-US" sz="1400" dirty="0"/>
          </a:p>
        </p:txBody>
      </p:sp>
      <p:sp>
        <p:nvSpPr>
          <p:cNvPr id="12" name="Shape 10"/>
          <p:cNvSpPr/>
          <p:nvPr/>
        </p:nvSpPr>
        <p:spPr>
          <a:xfrm>
            <a:off x="4343400" y="3200400"/>
            <a:ext cx="3520440" cy="2651760"/>
          </a:xfrm>
          <a:prstGeom prst="roundRect">
            <a:avLst>
              <a:gd name="adj" fmla="val 3448"/>
            </a:avLst>
          </a:prstGeom>
          <a:solidFill>
            <a:srgbClr val="FFFFFF"/>
          </a:solidFill>
          <a:ln w="12700">
            <a:solidFill>
              <a:srgbClr val="D5E5DB"/>
            </a:solidFill>
            <a:prstDash val="solid"/>
          </a:ln>
        </p:spPr>
      </p:sp>
      <p:sp>
        <p:nvSpPr>
          <p:cNvPr id="13" name="Shape 11"/>
          <p:cNvSpPr/>
          <p:nvPr/>
        </p:nvSpPr>
        <p:spPr>
          <a:xfrm>
            <a:off x="4343400" y="3200400"/>
            <a:ext cx="3520440" cy="109728"/>
          </a:xfrm>
          <a:prstGeom prst="rect">
            <a:avLst/>
          </a:prstGeom>
          <a:solidFill>
            <a:srgbClr val="1B5E3B"/>
          </a:solidFill>
          <a:ln w="12700">
            <a:solidFill>
              <a:srgbClr val="1B5E3B"/>
            </a:solidFill>
            <a:prstDash val="solid"/>
          </a:ln>
        </p:spPr>
      </p:sp>
      <p:sp>
        <p:nvSpPr>
          <p:cNvPr id="14" name="Text 12"/>
          <p:cNvSpPr/>
          <p:nvPr/>
        </p:nvSpPr>
        <p:spPr>
          <a:xfrm>
            <a:off x="4572000" y="3520440"/>
            <a:ext cx="3063240" cy="457200"/>
          </a:xfrm>
          <a:prstGeom prst="rect">
            <a:avLst/>
          </a:prstGeom>
          <a:noFill/>
          <a:ln/>
        </p:spPr>
        <p:txBody>
          <a:bodyPr wrap="square" rtlCol="0" anchor="ctr"/>
          <a:lstStyle/>
          <a:p>
            <a:pPr indent="0" marL="0">
              <a:buNone/>
            </a:pPr>
            <a:r>
              <a:rPr lang="en-US" sz="1800" b="1" dirty="0">
                <a:solidFill>
                  <a:srgbClr val="0F3D28"/>
                </a:solidFill>
                <a:latin typeface="Calibri" pitchFamily="34" charset="0"/>
                <a:ea typeface="Calibri" pitchFamily="34" charset="-122"/>
                <a:cs typeface="Calibri" pitchFamily="34" charset="-120"/>
              </a:rPr>
              <a:t>Suivi fragmenté</a:t>
            </a:r>
            <a:endParaRPr lang="en-US" sz="1800" dirty="0"/>
          </a:p>
        </p:txBody>
      </p:sp>
      <p:sp>
        <p:nvSpPr>
          <p:cNvPr id="15" name="Text 13"/>
          <p:cNvSpPr/>
          <p:nvPr/>
        </p:nvSpPr>
        <p:spPr>
          <a:xfrm>
            <a:off x="4572000" y="4069080"/>
            <a:ext cx="3063240" cy="1371600"/>
          </a:xfrm>
          <a:prstGeom prst="rect">
            <a:avLst/>
          </a:prstGeom>
          <a:noFill/>
          <a:ln/>
        </p:spPr>
        <p:txBody>
          <a:bodyPr wrap="square" rtlCol="0" anchor="ctr"/>
          <a:lstStyle/>
          <a:p>
            <a:pPr indent="0" marL="0">
              <a:buNone/>
            </a:pPr>
            <a:r>
              <a:rPr lang="en-US" sz="1400" dirty="0">
                <a:solidFill>
                  <a:srgbClr val="5B6B63"/>
                </a:solidFill>
                <a:latin typeface="Calibri" pitchFamily="34" charset="0"/>
                <a:ea typeface="Calibri" pitchFamily="34" charset="-122"/>
                <a:cs typeface="Calibri" pitchFamily="34" charset="-120"/>
              </a:rPr>
              <a:t>Le statut d’un rendez-vous n’est pas toujours visible immédiatement.</a:t>
            </a:r>
            <a:endParaRPr lang="en-US" sz="1400" dirty="0"/>
          </a:p>
        </p:txBody>
      </p:sp>
      <p:sp>
        <p:nvSpPr>
          <p:cNvPr id="16" name="Shape 14"/>
          <p:cNvSpPr/>
          <p:nvPr/>
        </p:nvSpPr>
        <p:spPr>
          <a:xfrm>
            <a:off x="8046720" y="3200400"/>
            <a:ext cx="3520440" cy="2651760"/>
          </a:xfrm>
          <a:prstGeom prst="roundRect">
            <a:avLst>
              <a:gd name="adj" fmla="val 3448"/>
            </a:avLst>
          </a:prstGeom>
          <a:solidFill>
            <a:srgbClr val="FFFFFF"/>
          </a:solidFill>
          <a:ln w="12700">
            <a:solidFill>
              <a:srgbClr val="D5E5DB"/>
            </a:solidFill>
            <a:prstDash val="solid"/>
          </a:ln>
        </p:spPr>
      </p:sp>
      <p:sp>
        <p:nvSpPr>
          <p:cNvPr id="17" name="Shape 15"/>
          <p:cNvSpPr/>
          <p:nvPr/>
        </p:nvSpPr>
        <p:spPr>
          <a:xfrm>
            <a:off x="8046720" y="3200400"/>
            <a:ext cx="3520440" cy="109728"/>
          </a:xfrm>
          <a:prstGeom prst="rect">
            <a:avLst/>
          </a:prstGeom>
          <a:solidFill>
            <a:srgbClr val="1B5E3B"/>
          </a:solidFill>
          <a:ln w="12700">
            <a:solidFill>
              <a:srgbClr val="1B5E3B"/>
            </a:solidFill>
            <a:prstDash val="solid"/>
          </a:ln>
        </p:spPr>
      </p:sp>
      <p:sp>
        <p:nvSpPr>
          <p:cNvPr id="18" name="Text 16"/>
          <p:cNvSpPr/>
          <p:nvPr/>
        </p:nvSpPr>
        <p:spPr>
          <a:xfrm>
            <a:off x="8275320" y="3520440"/>
            <a:ext cx="3063240" cy="457200"/>
          </a:xfrm>
          <a:prstGeom prst="rect">
            <a:avLst/>
          </a:prstGeom>
          <a:noFill/>
          <a:ln/>
        </p:spPr>
        <p:txBody>
          <a:bodyPr wrap="square" rtlCol="0" anchor="ctr"/>
          <a:lstStyle/>
          <a:p>
            <a:pPr indent="0" marL="0">
              <a:buNone/>
            </a:pPr>
            <a:r>
              <a:rPr lang="en-US" sz="1800" b="1" dirty="0">
                <a:solidFill>
                  <a:srgbClr val="0F3D28"/>
                </a:solidFill>
                <a:latin typeface="Calibri" pitchFamily="34" charset="0"/>
                <a:ea typeface="Calibri" pitchFamily="34" charset="-122"/>
                <a:cs typeface="Calibri" pitchFamily="34" charset="-120"/>
              </a:rPr>
              <a:t>Recherche lente</a:t>
            </a:r>
            <a:endParaRPr lang="en-US" sz="1800" dirty="0"/>
          </a:p>
        </p:txBody>
      </p:sp>
      <p:sp>
        <p:nvSpPr>
          <p:cNvPr id="19" name="Text 17"/>
          <p:cNvSpPr/>
          <p:nvPr/>
        </p:nvSpPr>
        <p:spPr>
          <a:xfrm>
            <a:off x="8275320" y="4069080"/>
            <a:ext cx="3063240" cy="1371600"/>
          </a:xfrm>
          <a:prstGeom prst="rect">
            <a:avLst/>
          </a:prstGeom>
          <a:noFill/>
          <a:ln/>
        </p:spPr>
        <p:txBody>
          <a:bodyPr wrap="square" rtlCol="0" anchor="ctr"/>
          <a:lstStyle/>
          <a:p>
            <a:pPr indent="0" marL="0">
              <a:buNone/>
            </a:pPr>
            <a:r>
              <a:rPr lang="en-US" sz="1400" dirty="0">
                <a:solidFill>
                  <a:srgbClr val="5B6B63"/>
                </a:solidFill>
                <a:latin typeface="Calibri" pitchFamily="34" charset="0"/>
                <a:ea typeface="Calibri" pitchFamily="34" charset="-122"/>
                <a:cs typeface="Calibri" pitchFamily="34" charset="-120"/>
              </a:rPr>
              <a:t>Retrouver un ancien rendez-vous demande du temps et plusieurs vérifications.</a:t>
            </a:r>
            <a:endParaRPr lang="en-US" sz="1400" dirty="0"/>
          </a:p>
        </p:txBody>
      </p:sp>
      <p:sp>
        <p:nvSpPr>
          <p:cNvPr id="20" name="Shape 18"/>
          <p:cNvSpPr/>
          <p:nvPr/>
        </p:nvSpPr>
        <p:spPr>
          <a:xfrm>
            <a:off x="0" y="6537960"/>
            <a:ext cx="12191695" cy="320040"/>
          </a:xfrm>
          <a:prstGeom prst="rect">
            <a:avLst/>
          </a:prstGeom>
          <a:solidFill>
            <a:srgbClr val="E8F5EE"/>
          </a:solidFill>
          <a:ln w="12700">
            <a:solidFill>
              <a:srgbClr val="E8F5EE"/>
            </a:solidFill>
            <a:prstDash val="solid"/>
          </a:ln>
        </p:spPr>
      </p:sp>
      <p:sp>
        <p:nvSpPr>
          <p:cNvPr id="21" name="Text 19"/>
          <p:cNvSpPr/>
          <p:nvPr/>
        </p:nvSpPr>
        <p:spPr>
          <a:xfrm>
            <a:off x="457200" y="6565392"/>
            <a:ext cx="7315200" cy="256032"/>
          </a:xfrm>
          <a:prstGeom prst="rect">
            <a:avLst/>
          </a:prstGeom>
          <a:noFill/>
          <a:ln/>
        </p:spPr>
        <p:txBody>
          <a:bodyPr wrap="square" rtlCol="0" anchor="ctr"/>
          <a:lstStyle/>
          <a:p>
            <a:pPr indent="0" marL="0">
              <a:buNone/>
            </a:pPr>
            <a:r>
              <a:rPr lang="en-US" sz="1000" dirty="0">
                <a:solidFill>
                  <a:srgbClr val="5B6B63"/>
                </a:solidFill>
                <a:latin typeface="Calibri" pitchFamily="34" charset="0"/>
                <a:ea typeface="Calibri" pitchFamily="34" charset="-122"/>
                <a:cs typeface="Calibri" pitchFamily="34" charset="-120"/>
              </a:rPr>
              <a:t>ARPT / DG / DGA · Usage interne</a:t>
            </a:r>
            <a:endParaRPr lang="en-US" sz="1000" dirty="0"/>
          </a:p>
        </p:txBody>
      </p:sp>
      <p:sp>
        <p:nvSpPr>
          <p:cNvPr id="22" name="Text 20"/>
          <p:cNvSpPr/>
          <p:nvPr/>
        </p:nvSpPr>
        <p:spPr>
          <a:xfrm>
            <a:off x="10515600" y="6565392"/>
            <a:ext cx="1188720" cy="256032"/>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2 / 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64592" cy="6858000"/>
          </a:xfrm>
          <a:prstGeom prst="rect">
            <a:avLst/>
          </a:prstGeom>
          <a:solidFill>
            <a:srgbClr val="1B5E3B"/>
          </a:solidFill>
          <a:ln w="12700">
            <a:solidFill>
              <a:srgbClr val="1B5E3B"/>
            </a:solidFill>
            <a:prstDash val="solid"/>
          </a:ln>
        </p:spPr>
      </p:sp>
      <p:sp>
        <p:nvSpPr>
          <p:cNvPr id="4" name="Text 2"/>
          <p:cNvSpPr/>
          <p:nvPr/>
        </p:nvSpPr>
        <p:spPr>
          <a:xfrm>
            <a:off x="640080" y="320040"/>
            <a:ext cx="10515600" cy="365760"/>
          </a:xfrm>
          <a:prstGeom prst="rect">
            <a:avLst/>
          </a:prstGeom>
          <a:noFill/>
          <a:ln/>
        </p:spPr>
        <p:txBody>
          <a:bodyPr wrap="square" rtlCol="0" anchor="ctr"/>
          <a:lstStyle/>
          <a:p>
            <a:pPr indent="0" marL="0">
              <a:buNone/>
            </a:pPr>
            <a:r>
              <a:rPr lang="en-US" sz="1400" b="1" dirty="0">
                <a:solidFill>
                  <a:srgbClr val="1B5E3B"/>
                </a:solidFill>
                <a:latin typeface="Calibri" pitchFamily="34" charset="0"/>
                <a:ea typeface="Calibri" pitchFamily="34" charset="-122"/>
                <a:cs typeface="Calibri" pitchFamily="34" charset="-120"/>
              </a:rPr>
              <a:t>02  ·  Les bénéfices de la solution</a:t>
            </a:r>
            <a:endParaRPr lang="en-US" sz="1400" dirty="0"/>
          </a:p>
        </p:txBody>
      </p:sp>
      <p:sp>
        <p:nvSpPr>
          <p:cNvPr id="5" name="Text 3"/>
          <p:cNvSpPr/>
          <p:nvPr/>
        </p:nvSpPr>
        <p:spPr>
          <a:xfrm>
            <a:off x="640080" y="685800"/>
            <a:ext cx="10515600" cy="502920"/>
          </a:xfrm>
          <a:prstGeom prst="rect">
            <a:avLst/>
          </a:prstGeom>
          <a:noFill/>
          <a:ln/>
        </p:spPr>
        <p:txBody>
          <a:bodyPr wrap="square" rtlCol="0" anchor="ctr"/>
          <a:lstStyle/>
          <a:p>
            <a:pPr indent="0" marL="0">
              <a:buNone/>
            </a:pPr>
            <a:r>
              <a:rPr lang="en-US" sz="2800" b="1" dirty="0">
                <a:solidFill>
                  <a:srgbClr val="0F3D28"/>
                </a:solidFill>
                <a:latin typeface="Calibri" pitchFamily="34" charset="0"/>
                <a:ea typeface="Calibri" pitchFamily="34" charset="-122"/>
                <a:cs typeface="Calibri" pitchFamily="34" charset="-120"/>
              </a:rPr>
              <a:t>Trois gains concrets pour le cabinet</a:t>
            </a:r>
            <a:endParaRPr lang="en-US" sz="2800" dirty="0"/>
          </a:p>
        </p:txBody>
      </p:sp>
      <p:sp>
        <p:nvSpPr>
          <p:cNvPr id="6" name="Shape 4"/>
          <p:cNvSpPr/>
          <p:nvPr/>
        </p:nvSpPr>
        <p:spPr>
          <a:xfrm>
            <a:off x="640080" y="1417320"/>
            <a:ext cx="10881360" cy="1280160"/>
          </a:xfrm>
          <a:prstGeom prst="roundRect">
            <a:avLst>
              <a:gd name="adj" fmla="val 7143"/>
            </a:avLst>
          </a:prstGeom>
          <a:solidFill>
            <a:srgbClr val="E8F5EE"/>
          </a:solidFill>
          <a:ln w="12700">
            <a:solidFill>
              <a:srgbClr val="D5E5DB"/>
            </a:solidFill>
            <a:prstDash val="solid"/>
          </a:ln>
        </p:spPr>
      </p:sp>
      <p:sp>
        <p:nvSpPr>
          <p:cNvPr id="7" name="Text 5"/>
          <p:cNvSpPr/>
          <p:nvPr/>
        </p:nvSpPr>
        <p:spPr>
          <a:xfrm>
            <a:off x="868680" y="1737360"/>
            <a:ext cx="1097280" cy="640080"/>
          </a:xfrm>
          <a:prstGeom prst="rect">
            <a:avLst/>
          </a:prstGeom>
          <a:noFill/>
          <a:ln/>
        </p:spPr>
        <p:txBody>
          <a:bodyPr wrap="square" rtlCol="0" anchor="ctr"/>
          <a:lstStyle/>
          <a:p>
            <a:pPr indent="0" marL="0">
              <a:buNone/>
            </a:pPr>
            <a:r>
              <a:rPr lang="en-US" sz="2800" b="1" dirty="0">
                <a:solidFill>
                  <a:srgbClr val="1B5E3B"/>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2103120" y="1645920"/>
            <a:ext cx="8961120" cy="411480"/>
          </a:xfrm>
          <a:prstGeom prst="rect">
            <a:avLst/>
          </a:prstGeom>
          <a:noFill/>
          <a:ln/>
        </p:spPr>
        <p:txBody>
          <a:bodyPr wrap="square" rtlCol="0" anchor="ctr"/>
          <a:lstStyle/>
          <a:p>
            <a:pPr indent="0" marL="0">
              <a:buNone/>
            </a:pPr>
            <a:r>
              <a:rPr lang="en-US" sz="2000" b="1" dirty="0">
                <a:solidFill>
                  <a:srgbClr val="0F3D28"/>
                </a:solidFill>
                <a:latin typeface="Calibri" pitchFamily="34" charset="0"/>
                <a:ea typeface="Calibri" pitchFamily="34" charset="-122"/>
                <a:cs typeface="Calibri" pitchFamily="34" charset="-120"/>
              </a:rPr>
              <a:t>Gain de temps</a:t>
            </a:r>
            <a:endParaRPr lang="en-US" sz="2000" dirty="0"/>
          </a:p>
        </p:txBody>
      </p:sp>
      <p:sp>
        <p:nvSpPr>
          <p:cNvPr id="9" name="Text 7"/>
          <p:cNvSpPr/>
          <p:nvPr/>
        </p:nvSpPr>
        <p:spPr>
          <a:xfrm>
            <a:off x="2103120" y="2057400"/>
            <a:ext cx="8961120" cy="411480"/>
          </a:xfrm>
          <a:prstGeom prst="rect">
            <a:avLst/>
          </a:prstGeom>
          <a:noFill/>
          <a:ln/>
        </p:spPr>
        <p:txBody>
          <a:bodyPr wrap="square" rtlCol="0" anchor="ctr"/>
          <a:lstStyle/>
          <a:p>
            <a:pPr indent="0" marL="0">
              <a:buNone/>
            </a:pPr>
            <a:r>
              <a:rPr lang="en-US" sz="1500" dirty="0">
                <a:solidFill>
                  <a:srgbClr val="5B6B63"/>
                </a:solidFill>
                <a:latin typeface="Calibri" pitchFamily="34" charset="0"/>
                <a:ea typeface="Calibri" pitchFamily="34" charset="-122"/>
                <a:cs typeface="Calibri" pitchFamily="34" charset="-120"/>
              </a:rPr>
              <a:t>Réduire les tâches administratives répétitives pour se concentrer sur l’essentiel.</a:t>
            </a:r>
            <a:endParaRPr lang="en-US" sz="1500" dirty="0"/>
          </a:p>
        </p:txBody>
      </p:sp>
      <p:sp>
        <p:nvSpPr>
          <p:cNvPr id="10" name="Shape 8"/>
          <p:cNvSpPr/>
          <p:nvPr/>
        </p:nvSpPr>
        <p:spPr>
          <a:xfrm>
            <a:off x="640080" y="2834640"/>
            <a:ext cx="10881360" cy="1280160"/>
          </a:xfrm>
          <a:prstGeom prst="roundRect">
            <a:avLst>
              <a:gd name="adj" fmla="val 7143"/>
            </a:avLst>
          </a:prstGeom>
          <a:solidFill>
            <a:srgbClr val="FFFFFF"/>
          </a:solidFill>
          <a:ln w="12700">
            <a:solidFill>
              <a:srgbClr val="D5E5DB"/>
            </a:solidFill>
            <a:prstDash val="solid"/>
          </a:ln>
        </p:spPr>
      </p:sp>
      <p:sp>
        <p:nvSpPr>
          <p:cNvPr id="11" name="Text 9"/>
          <p:cNvSpPr/>
          <p:nvPr/>
        </p:nvSpPr>
        <p:spPr>
          <a:xfrm>
            <a:off x="868680" y="3154680"/>
            <a:ext cx="1097280" cy="640080"/>
          </a:xfrm>
          <a:prstGeom prst="rect">
            <a:avLst/>
          </a:prstGeom>
          <a:noFill/>
          <a:ln/>
        </p:spPr>
        <p:txBody>
          <a:bodyPr wrap="square" rtlCol="0" anchor="ctr"/>
          <a:lstStyle/>
          <a:p>
            <a:pPr indent="0" marL="0">
              <a:buNone/>
            </a:pPr>
            <a:r>
              <a:rPr lang="en-US" sz="2800" b="1" dirty="0">
                <a:solidFill>
                  <a:srgbClr val="1B5E3B"/>
                </a:solidFill>
                <a:latin typeface="Calibri" pitchFamily="34" charset="0"/>
                <a:ea typeface="Calibri" pitchFamily="34" charset="-122"/>
                <a:cs typeface="Calibri" pitchFamily="34" charset="-120"/>
              </a:rPr>
              <a:t>02</a:t>
            </a:r>
            <a:endParaRPr lang="en-US" sz="2800" dirty="0"/>
          </a:p>
        </p:txBody>
      </p:sp>
      <p:sp>
        <p:nvSpPr>
          <p:cNvPr id="12" name="Text 10"/>
          <p:cNvSpPr/>
          <p:nvPr/>
        </p:nvSpPr>
        <p:spPr>
          <a:xfrm>
            <a:off x="2103120" y="3063240"/>
            <a:ext cx="8961120" cy="411480"/>
          </a:xfrm>
          <a:prstGeom prst="rect">
            <a:avLst/>
          </a:prstGeom>
          <a:noFill/>
          <a:ln/>
        </p:spPr>
        <p:txBody>
          <a:bodyPr wrap="square" rtlCol="0" anchor="ctr"/>
          <a:lstStyle/>
          <a:p>
            <a:pPr indent="0" marL="0">
              <a:buNone/>
            </a:pPr>
            <a:r>
              <a:rPr lang="en-US" sz="2000" b="1" dirty="0">
                <a:solidFill>
                  <a:srgbClr val="0F3D28"/>
                </a:solidFill>
                <a:latin typeface="Calibri" pitchFamily="34" charset="0"/>
                <a:ea typeface="Calibri" pitchFamily="34" charset="-122"/>
                <a:cs typeface="Calibri" pitchFamily="34" charset="-120"/>
              </a:rPr>
              <a:t>Traçabilité</a:t>
            </a:r>
            <a:endParaRPr lang="en-US" sz="2000" dirty="0"/>
          </a:p>
        </p:txBody>
      </p:sp>
      <p:sp>
        <p:nvSpPr>
          <p:cNvPr id="13" name="Text 11"/>
          <p:cNvSpPr/>
          <p:nvPr/>
        </p:nvSpPr>
        <p:spPr>
          <a:xfrm>
            <a:off x="2103120" y="3474720"/>
            <a:ext cx="8961120" cy="411480"/>
          </a:xfrm>
          <a:prstGeom prst="rect">
            <a:avLst/>
          </a:prstGeom>
          <a:noFill/>
          <a:ln/>
        </p:spPr>
        <p:txBody>
          <a:bodyPr wrap="square" rtlCol="0" anchor="ctr"/>
          <a:lstStyle/>
          <a:p>
            <a:pPr indent="0" marL="0">
              <a:buNone/>
            </a:pPr>
            <a:r>
              <a:rPr lang="en-US" sz="1500" dirty="0">
                <a:solidFill>
                  <a:srgbClr val="5B6B63"/>
                </a:solidFill>
                <a:latin typeface="Calibri" pitchFamily="34" charset="0"/>
                <a:ea typeface="Calibri" pitchFamily="34" charset="-122"/>
                <a:cs typeface="Calibri" pitchFamily="34" charset="-120"/>
              </a:rPr>
              <a:t>Historiser chaque action pour une transparence totale et un suivi fiable.</a:t>
            </a:r>
            <a:endParaRPr lang="en-US" sz="1500" dirty="0"/>
          </a:p>
        </p:txBody>
      </p:sp>
      <p:sp>
        <p:nvSpPr>
          <p:cNvPr id="14" name="Shape 12"/>
          <p:cNvSpPr/>
          <p:nvPr/>
        </p:nvSpPr>
        <p:spPr>
          <a:xfrm>
            <a:off x="640080" y="4251960"/>
            <a:ext cx="10881360" cy="1280160"/>
          </a:xfrm>
          <a:prstGeom prst="roundRect">
            <a:avLst>
              <a:gd name="adj" fmla="val 7143"/>
            </a:avLst>
          </a:prstGeom>
          <a:solidFill>
            <a:srgbClr val="E8F5EE"/>
          </a:solidFill>
          <a:ln w="12700">
            <a:solidFill>
              <a:srgbClr val="D5E5DB"/>
            </a:solidFill>
            <a:prstDash val="solid"/>
          </a:ln>
        </p:spPr>
      </p:sp>
      <p:sp>
        <p:nvSpPr>
          <p:cNvPr id="15" name="Text 13"/>
          <p:cNvSpPr/>
          <p:nvPr/>
        </p:nvSpPr>
        <p:spPr>
          <a:xfrm>
            <a:off x="868680" y="4572000"/>
            <a:ext cx="1097280" cy="640080"/>
          </a:xfrm>
          <a:prstGeom prst="rect">
            <a:avLst/>
          </a:prstGeom>
          <a:noFill/>
          <a:ln/>
        </p:spPr>
        <p:txBody>
          <a:bodyPr wrap="square" rtlCol="0" anchor="ctr"/>
          <a:lstStyle/>
          <a:p>
            <a:pPr indent="0" marL="0">
              <a:buNone/>
            </a:pPr>
            <a:r>
              <a:rPr lang="en-US" sz="2800" b="1" dirty="0">
                <a:solidFill>
                  <a:srgbClr val="1B5E3B"/>
                </a:solidFill>
                <a:latin typeface="Calibri" pitchFamily="34" charset="0"/>
                <a:ea typeface="Calibri" pitchFamily="34" charset="-122"/>
                <a:cs typeface="Calibri" pitchFamily="34" charset="-120"/>
              </a:rPr>
              <a:t>03</a:t>
            </a:r>
            <a:endParaRPr lang="en-US" sz="2800" dirty="0"/>
          </a:p>
        </p:txBody>
      </p:sp>
      <p:sp>
        <p:nvSpPr>
          <p:cNvPr id="16" name="Text 14"/>
          <p:cNvSpPr/>
          <p:nvPr/>
        </p:nvSpPr>
        <p:spPr>
          <a:xfrm>
            <a:off x="2103120" y="4480560"/>
            <a:ext cx="8961120" cy="411480"/>
          </a:xfrm>
          <a:prstGeom prst="rect">
            <a:avLst/>
          </a:prstGeom>
          <a:noFill/>
          <a:ln/>
        </p:spPr>
        <p:txBody>
          <a:bodyPr wrap="square" rtlCol="0" anchor="ctr"/>
          <a:lstStyle/>
          <a:p>
            <a:pPr indent="0" marL="0">
              <a:buNone/>
            </a:pPr>
            <a:r>
              <a:rPr lang="en-US" sz="2000" b="1" dirty="0">
                <a:solidFill>
                  <a:srgbClr val="0F3D28"/>
                </a:solidFill>
                <a:latin typeface="Calibri" pitchFamily="34" charset="0"/>
                <a:ea typeface="Calibri" pitchFamily="34" charset="-122"/>
                <a:cs typeface="Calibri" pitchFamily="34" charset="-120"/>
              </a:rPr>
              <a:t>Aide à la décision</a:t>
            </a:r>
            <a:endParaRPr lang="en-US" sz="2000" dirty="0"/>
          </a:p>
        </p:txBody>
      </p:sp>
      <p:sp>
        <p:nvSpPr>
          <p:cNvPr id="17" name="Text 15"/>
          <p:cNvSpPr/>
          <p:nvPr/>
        </p:nvSpPr>
        <p:spPr>
          <a:xfrm>
            <a:off x="2103120" y="4892040"/>
            <a:ext cx="8961120" cy="411480"/>
          </a:xfrm>
          <a:prstGeom prst="rect">
            <a:avLst/>
          </a:prstGeom>
          <a:noFill/>
          <a:ln/>
        </p:spPr>
        <p:txBody>
          <a:bodyPr wrap="square" rtlCol="0" anchor="ctr"/>
          <a:lstStyle/>
          <a:p>
            <a:pPr indent="0" marL="0">
              <a:buNone/>
            </a:pPr>
            <a:r>
              <a:rPr lang="en-US" sz="1500" dirty="0">
                <a:solidFill>
                  <a:srgbClr val="5B6B63"/>
                </a:solidFill>
                <a:latin typeface="Calibri" pitchFamily="34" charset="0"/>
                <a:ea typeface="Calibri" pitchFamily="34" charset="-122"/>
                <a:cs typeface="Calibri" pitchFamily="34" charset="-120"/>
              </a:rPr>
              <a:t>Disposer d’indicateurs clairs pour piloter l’agenda et les priorités du DGA.</a:t>
            </a:r>
            <a:endParaRPr lang="en-US" sz="1500" dirty="0"/>
          </a:p>
        </p:txBody>
      </p:sp>
      <p:sp>
        <p:nvSpPr>
          <p:cNvPr id="18" name="Shape 16"/>
          <p:cNvSpPr/>
          <p:nvPr/>
        </p:nvSpPr>
        <p:spPr>
          <a:xfrm>
            <a:off x="0" y="6537960"/>
            <a:ext cx="12191695" cy="320040"/>
          </a:xfrm>
          <a:prstGeom prst="rect">
            <a:avLst/>
          </a:prstGeom>
          <a:solidFill>
            <a:srgbClr val="E8F5EE"/>
          </a:solidFill>
          <a:ln w="12700">
            <a:solidFill>
              <a:srgbClr val="E8F5EE"/>
            </a:solidFill>
            <a:prstDash val="solid"/>
          </a:ln>
        </p:spPr>
      </p:sp>
      <p:sp>
        <p:nvSpPr>
          <p:cNvPr id="19" name="Text 17"/>
          <p:cNvSpPr/>
          <p:nvPr/>
        </p:nvSpPr>
        <p:spPr>
          <a:xfrm>
            <a:off x="457200" y="6565392"/>
            <a:ext cx="7315200" cy="256032"/>
          </a:xfrm>
          <a:prstGeom prst="rect">
            <a:avLst/>
          </a:prstGeom>
          <a:noFill/>
          <a:ln/>
        </p:spPr>
        <p:txBody>
          <a:bodyPr wrap="square" rtlCol="0" anchor="ctr"/>
          <a:lstStyle/>
          <a:p>
            <a:pPr indent="0" marL="0">
              <a:buNone/>
            </a:pPr>
            <a:r>
              <a:rPr lang="en-US" sz="1000" dirty="0">
                <a:solidFill>
                  <a:srgbClr val="5B6B63"/>
                </a:solidFill>
                <a:latin typeface="Calibri" pitchFamily="34" charset="0"/>
                <a:ea typeface="Calibri" pitchFamily="34" charset="-122"/>
                <a:cs typeface="Calibri" pitchFamily="34" charset="-120"/>
              </a:rPr>
              <a:t>ARPT / DG / DGA · Usage interne</a:t>
            </a:r>
            <a:endParaRPr lang="en-US" sz="1000" dirty="0"/>
          </a:p>
        </p:txBody>
      </p:sp>
      <p:sp>
        <p:nvSpPr>
          <p:cNvPr id="20" name="Text 18"/>
          <p:cNvSpPr/>
          <p:nvPr/>
        </p:nvSpPr>
        <p:spPr>
          <a:xfrm>
            <a:off x="10515600" y="6565392"/>
            <a:ext cx="1188720" cy="256032"/>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3 / 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64592" cy="6858000"/>
          </a:xfrm>
          <a:prstGeom prst="rect">
            <a:avLst/>
          </a:prstGeom>
          <a:solidFill>
            <a:srgbClr val="1B5E3B"/>
          </a:solidFill>
          <a:ln w="12700">
            <a:solidFill>
              <a:srgbClr val="1B5E3B"/>
            </a:solidFill>
            <a:prstDash val="solid"/>
          </a:ln>
        </p:spPr>
      </p:sp>
      <p:sp>
        <p:nvSpPr>
          <p:cNvPr id="4" name="Text 2"/>
          <p:cNvSpPr/>
          <p:nvPr/>
        </p:nvSpPr>
        <p:spPr>
          <a:xfrm>
            <a:off x="640080" y="274320"/>
            <a:ext cx="10515600" cy="320040"/>
          </a:xfrm>
          <a:prstGeom prst="rect">
            <a:avLst/>
          </a:prstGeom>
          <a:noFill/>
          <a:ln/>
        </p:spPr>
        <p:txBody>
          <a:bodyPr wrap="square" rtlCol="0" anchor="ctr"/>
          <a:lstStyle/>
          <a:p>
            <a:pPr indent="0" marL="0">
              <a:buNone/>
            </a:pPr>
            <a:r>
              <a:rPr lang="en-US" sz="1400" b="1" dirty="0">
                <a:solidFill>
                  <a:srgbClr val="1B5E3B"/>
                </a:solidFill>
                <a:latin typeface="Calibri" pitchFamily="34" charset="0"/>
                <a:ea typeface="Calibri" pitchFamily="34" charset="-122"/>
                <a:cs typeface="Calibri" pitchFamily="34" charset="-120"/>
              </a:rPr>
              <a:t>02.1  ·  Gain de temps</a:t>
            </a:r>
            <a:endParaRPr lang="en-US" sz="1400" dirty="0"/>
          </a:p>
        </p:txBody>
      </p:sp>
      <p:sp>
        <p:nvSpPr>
          <p:cNvPr id="5" name="Text 3"/>
          <p:cNvSpPr/>
          <p:nvPr/>
        </p:nvSpPr>
        <p:spPr>
          <a:xfrm>
            <a:off x="640080" y="594360"/>
            <a:ext cx="10515600" cy="457200"/>
          </a:xfrm>
          <a:prstGeom prst="rect">
            <a:avLst/>
          </a:prstGeom>
          <a:noFill/>
          <a:ln/>
        </p:spPr>
        <p:txBody>
          <a:bodyPr wrap="square" rtlCol="0" anchor="ctr"/>
          <a:lstStyle/>
          <a:p>
            <a:pPr indent="0" marL="0">
              <a:buNone/>
            </a:pPr>
            <a:r>
              <a:rPr lang="en-US" sz="2600" b="1" dirty="0">
                <a:solidFill>
                  <a:srgbClr val="0F3D28"/>
                </a:solidFill>
                <a:latin typeface="Calibri" pitchFamily="34" charset="0"/>
                <a:ea typeface="Calibri" pitchFamily="34" charset="-122"/>
                <a:cs typeface="Calibri" pitchFamily="34" charset="-120"/>
              </a:rPr>
              <a:t>Réduire le temps perdu sur le suivi manuel</a:t>
            </a:r>
            <a:endParaRPr lang="en-US" sz="2600" dirty="0"/>
          </a:p>
        </p:txBody>
      </p:sp>
      <p:sp>
        <p:nvSpPr>
          <p:cNvPr id="6" name="Shape 4"/>
          <p:cNvSpPr/>
          <p:nvPr/>
        </p:nvSpPr>
        <p:spPr>
          <a:xfrm>
            <a:off x="640080" y="1143000"/>
            <a:ext cx="10881360" cy="1051560"/>
          </a:xfrm>
          <a:prstGeom prst="roundRect">
            <a:avLst>
              <a:gd name="adj" fmla="val 8696"/>
            </a:avLst>
          </a:prstGeom>
          <a:solidFill>
            <a:srgbClr val="E8F5EE"/>
          </a:solidFill>
          <a:ln w="12700">
            <a:solidFill>
              <a:srgbClr val="D5E5DB"/>
            </a:solidFill>
            <a:prstDash val="solid"/>
          </a:ln>
        </p:spPr>
      </p:sp>
      <p:sp>
        <p:nvSpPr>
          <p:cNvPr id="7" name="Text 5"/>
          <p:cNvSpPr/>
          <p:nvPr/>
        </p:nvSpPr>
        <p:spPr>
          <a:xfrm>
            <a:off x="868680" y="1280160"/>
            <a:ext cx="10424160" cy="77724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Le premier objectif est de réduire le temps consacré aux tâches administratives répétitives afin que le cabinet puisse se concentrer sur les activités à forte valeur ajoutée.</a:t>
            </a:r>
            <a:endParaRPr lang="en-US" sz="1500" dirty="0"/>
          </a:p>
        </p:txBody>
      </p:sp>
      <p:sp>
        <p:nvSpPr>
          <p:cNvPr id="8" name="Shape 6"/>
          <p:cNvSpPr/>
          <p:nvPr/>
        </p:nvSpPr>
        <p:spPr>
          <a:xfrm>
            <a:off x="640080" y="2468880"/>
            <a:ext cx="3520440" cy="1508760"/>
          </a:xfrm>
          <a:prstGeom prst="roundRect">
            <a:avLst>
              <a:gd name="adj" fmla="val 6061"/>
            </a:avLst>
          </a:prstGeom>
          <a:solidFill>
            <a:srgbClr val="FFFFFF"/>
          </a:solidFill>
          <a:ln w="12700">
            <a:solidFill>
              <a:srgbClr val="D5E5DB"/>
            </a:solidFill>
            <a:prstDash val="solid"/>
          </a:ln>
        </p:spPr>
      </p:sp>
      <p:sp>
        <p:nvSpPr>
          <p:cNvPr id="9" name="Text 7"/>
          <p:cNvSpPr/>
          <p:nvPr/>
        </p:nvSpPr>
        <p:spPr>
          <a:xfrm>
            <a:off x="868680" y="2743200"/>
            <a:ext cx="3063240" cy="365760"/>
          </a:xfrm>
          <a:prstGeom prst="rect">
            <a:avLst/>
          </a:prstGeom>
          <a:noFill/>
          <a:ln/>
        </p:spPr>
        <p:txBody>
          <a:bodyPr wrap="square" rtlCol="0" anchor="ctr"/>
          <a:lstStyle/>
          <a:p>
            <a:pPr indent="0" marL="0">
              <a:buNone/>
            </a:pPr>
            <a:r>
              <a:rPr lang="en-US" sz="1600" b="1" dirty="0">
                <a:solidFill>
                  <a:srgbClr val="1B5E3B"/>
                </a:solidFill>
                <a:latin typeface="Calibri" pitchFamily="34" charset="0"/>
                <a:ea typeface="Calibri" pitchFamily="34" charset="-122"/>
                <a:cs typeface="Calibri" pitchFamily="34" charset="-120"/>
              </a:rPr>
              <a:t>Quelques minutes</a:t>
            </a:r>
            <a:endParaRPr lang="en-US" sz="1600" dirty="0"/>
          </a:p>
        </p:txBody>
      </p:sp>
      <p:sp>
        <p:nvSpPr>
          <p:cNvPr id="10" name="Text 8"/>
          <p:cNvSpPr/>
          <p:nvPr/>
        </p:nvSpPr>
        <p:spPr>
          <a:xfrm>
            <a:off x="868680" y="3200400"/>
            <a:ext cx="3063240" cy="50292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Enregistrer une demande</a:t>
            </a:r>
            <a:endParaRPr lang="en-US" sz="1500" dirty="0"/>
          </a:p>
        </p:txBody>
      </p:sp>
      <p:sp>
        <p:nvSpPr>
          <p:cNvPr id="11" name="Shape 9"/>
          <p:cNvSpPr/>
          <p:nvPr/>
        </p:nvSpPr>
        <p:spPr>
          <a:xfrm>
            <a:off x="4343400" y="2468880"/>
            <a:ext cx="3520440" cy="1508760"/>
          </a:xfrm>
          <a:prstGeom prst="roundRect">
            <a:avLst>
              <a:gd name="adj" fmla="val 6061"/>
            </a:avLst>
          </a:prstGeom>
          <a:solidFill>
            <a:srgbClr val="FFFFFF"/>
          </a:solidFill>
          <a:ln w="12700">
            <a:solidFill>
              <a:srgbClr val="D5E5DB"/>
            </a:solidFill>
            <a:prstDash val="solid"/>
          </a:ln>
        </p:spPr>
      </p:sp>
      <p:sp>
        <p:nvSpPr>
          <p:cNvPr id="12" name="Text 10"/>
          <p:cNvSpPr/>
          <p:nvPr/>
        </p:nvSpPr>
        <p:spPr>
          <a:xfrm>
            <a:off x="4572000" y="2743200"/>
            <a:ext cx="3063240" cy="365760"/>
          </a:xfrm>
          <a:prstGeom prst="rect">
            <a:avLst/>
          </a:prstGeom>
          <a:noFill/>
          <a:ln/>
        </p:spPr>
        <p:txBody>
          <a:bodyPr wrap="square" rtlCol="0" anchor="ctr"/>
          <a:lstStyle/>
          <a:p>
            <a:pPr indent="0" marL="0">
              <a:buNone/>
            </a:pPr>
            <a:r>
              <a:rPr lang="en-US" sz="1600" b="1" dirty="0">
                <a:solidFill>
                  <a:srgbClr val="1B5E3B"/>
                </a:solidFill>
                <a:latin typeface="Calibri" pitchFamily="34" charset="0"/>
                <a:ea typeface="Calibri" pitchFamily="34" charset="-122"/>
                <a:cs typeface="Calibri" pitchFamily="34" charset="-120"/>
              </a:rPr>
              <a:t>Quelques secondes</a:t>
            </a:r>
            <a:endParaRPr lang="en-US" sz="1600" dirty="0"/>
          </a:p>
        </p:txBody>
      </p:sp>
      <p:sp>
        <p:nvSpPr>
          <p:cNvPr id="13" name="Text 11"/>
          <p:cNvSpPr/>
          <p:nvPr/>
        </p:nvSpPr>
        <p:spPr>
          <a:xfrm>
            <a:off x="4572000" y="3200400"/>
            <a:ext cx="3063240" cy="50292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Retrouver un rendez-vous</a:t>
            </a:r>
            <a:endParaRPr lang="en-US" sz="1500" dirty="0"/>
          </a:p>
        </p:txBody>
      </p:sp>
      <p:sp>
        <p:nvSpPr>
          <p:cNvPr id="14" name="Shape 12"/>
          <p:cNvSpPr/>
          <p:nvPr/>
        </p:nvSpPr>
        <p:spPr>
          <a:xfrm>
            <a:off x="8046720" y="2468880"/>
            <a:ext cx="3520440" cy="1508760"/>
          </a:xfrm>
          <a:prstGeom prst="roundRect">
            <a:avLst>
              <a:gd name="adj" fmla="val 6061"/>
            </a:avLst>
          </a:prstGeom>
          <a:solidFill>
            <a:srgbClr val="FFFFFF"/>
          </a:solidFill>
          <a:ln w="12700">
            <a:solidFill>
              <a:srgbClr val="D5E5DB"/>
            </a:solidFill>
            <a:prstDash val="solid"/>
          </a:ln>
        </p:spPr>
      </p:sp>
      <p:sp>
        <p:nvSpPr>
          <p:cNvPr id="15" name="Text 13"/>
          <p:cNvSpPr/>
          <p:nvPr/>
        </p:nvSpPr>
        <p:spPr>
          <a:xfrm>
            <a:off x="8275320" y="2743200"/>
            <a:ext cx="3063240" cy="365760"/>
          </a:xfrm>
          <a:prstGeom prst="rect">
            <a:avLst/>
          </a:prstGeom>
          <a:noFill/>
          <a:ln/>
        </p:spPr>
        <p:txBody>
          <a:bodyPr wrap="square" rtlCol="0" anchor="ctr"/>
          <a:lstStyle/>
          <a:p>
            <a:pPr indent="0" marL="0">
              <a:buNone/>
            </a:pPr>
            <a:r>
              <a:rPr lang="en-US" sz="1600" b="1" dirty="0">
                <a:solidFill>
                  <a:srgbClr val="1B5E3B"/>
                </a:solidFill>
                <a:latin typeface="Calibri" pitchFamily="34" charset="0"/>
                <a:ea typeface="Calibri" pitchFamily="34" charset="-122"/>
                <a:cs typeface="Calibri" pitchFamily="34" charset="-120"/>
              </a:rPr>
              <a:t>Immédiat</a:t>
            </a:r>
            <a:endParaRPr lang="en-US" sz="1600" dirty="0"/>
          </a:p>
        </p:txBody>
      </p:sp>
      <p:sp>
        <p:nvSpPr>
          <p:cNvPr id="16" name="Text 14"/>
          <p:cNvSpPr/>
          <p:nvPr/>
        </p:nvSpPr>
        <p:spPr>
          <a:xfrm>
            <a:off x="8275320" y="3200400"/>
            <a:ext cx="3063240" cy="50292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Connaître les disponibilités du DGA</a:t>
            </a:r>
            <a:endParaRPr lang="en-US" sz="1500" dirty="0"/>
          </a:p>
        </p:txBody>
      </p:sp>
      <p:sp>
        <p:nvSpPr>
          <p:cNvPr id="17" name="Shape 15"/>
          <p:cNvSpPr/>
          <p:nvPr/>
        </p:nvSpPr>
        <p:spPr>
          <a:xfrm>
            <a:off x="640080" y="4160520"/>
            <a:ext cx="3520440" cy="1508760"/>
          </a:xfrm>
          <a:prstGeom prst="roundRect">
            <a:avLst>
              <a:gd name="adj" fmla="val 6061"/>
            </a:avLst>
          </a:prstGeom>
          <a:solidFill>
            <a:srgbClr val="FFFFFF"/>
          </a:solidFill>
          <a:ln w="12700">
            <a:solidFill>
              <a:srgbClr val="D5E5DB"/>
            </a:solidFill>
            <a:prstDash val="solid"/>
          </a:ln>
        </p:spPr>
      </p:sp>
      <p:sp>
        <p:nvSpPr>
          <p:cNvPr id="18" name="Text 16"/>
          <p:cNvSpPr/>
          <p:nvPr/>
        </p:nvSpPr>
        <p:spPr>
          <a:xfrm>
            <a:off x="868680" y="4434840"/>
            <a:ext cx="3063240" cy="365760"/>
          </a:xfrm>
          <a:prstGeom prst="rect">
            <a:avLst/>
          </a:prstGeom>
          <a:noFill/>
          <a:ln/>
        </p:spPr>
        <p:txBody>
          <a:bodyPr wrap="square" rtlCol="0" anchor="ctr"/>
          <a:lstStyle/>
          <a:p>
            <a:pPr indent="0" marL="0">
              <a:buNone/>
            </a:pPr>
            <a:r>
              <a:rPr lang="en-US" sz="1600" b="1" dirty="0">
                <a:solidFill>
                  <a:srgbClr val="1B5E3B"/>
                </a:solidFill>
                <a:latin typeface="Calibri" pitchFamily="34" charset="0"/>
                <a:ea typeface="Calibri" pitchFamily="34" charset="-122"/>
                <a:cs typeface="Calibri" pitchFamily="34" charset="-120"/>
              </a:rPr>
              <a:t>Automatique</a:t>
            </a:r>
            <a:endParaRPr lang="en-US" sz="1600" dirty="0"/>
          </a:p>
        </p:txBody>
      </p:sp>
      <p:sp>
        <p:nvSpPr>
          <p:cNvPr id="19" name="Text 17"/>
          <p:cNvSpPr/>
          <p:nvPr/>
        </p:nvSpPr>
        <p:spPr>
          <a:xfrm>
            <a:off x="868680" y="4892040"/>
            <a:ext cx="3063240" cy="50292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Éviter les doubles réservations</a:t>
            </a:r>
            <a:endParaRPr lang="en-US" sz="1500" dirty="0"/>
          </a:p>
        </p:txBody>
      </p:sp>
      <p:sp>
        <p:nvSpPr>
          <p:cNvPr id="20" name="Shape 18"/>
          <p:cNvSpPr/>
          <p:nvPr/>
        </p:nvSpPr>
        <p:spPr>
          <a:xfrm>
            <a:off x="4343400" y="4160520"/>
            <a:ext cx="3520440" cy="1508760"/>
          </a:xfrm>
          <a:prstGeom prst="roundRect">
            <a:avLst>
              <a:gd name="adj" fmla="val 6061"/>
            </a:avLst>
          </a:prstGeom>
          <a:solidFill>
            <a:srgbClr val="FFFFFF"/>
          </a:solidFill>
          <a:ln w="12700">
            <a:solidFill>
              <a:srgbClr val="D5E5DB"/>
            </a:solidFill>
            <a:prstDash val="solid"/>
          </a:ln>
        </p:spPr>
      </p:sp>
      <p:sp>
        <p:nvSpPr>
          <p:cNvPr id="21" name="Text 19"/>
          <p:cNvSpPr/>
          <p:nvPr/>
        </p:nvSpPr>
        <p:spPr>
          <a:xfrm>
            <a:off x="4572000" y="4434840"/>
            <a:ext cx="3063240" cy="365760"/>
          </a:xfrm>
          <a:prstGeom prst="rect">
            <a:avLst/>
          </a:prstGeom>
          <a:noFill/>
          <a:ln/>
        </p:spPr>
        <p:txBody>
          <a:bodyPr wrap="square" rtlCol="0" anchor="ctr"/>
          <a:lstStyle/>
          <a:p>
            <a:pPr indent="0" marL="0">
              <a:buNone/>
            </a:pPr>
            <a:r>
              <a:rPr lang="en-US" sz="1600" b="1" dirty="0">
                <a:solidFill>
                  <a:srgbClr val="1B5E3B"/>
                </a:solidFill>
                <a:latin typeface="Calibri" pitchFamily="34" charset="0"/>
                <a:ea typeface="Calibri" pitchFamily="34" charset="-122"/>
                <a:cs typeface="Calibri" pitchFamily="34" charset="-120"/>
              </a:rPr>
              <a:t>Automatique</a:t>
            </a:r>
            <a:endParaRPr lang="en-US" sz="1600" dirty="0"/>
          </a:p>
        </p:txBody>
      </p:sp>
      <p:sp>
        <p:nvSpPr>
          <p:cNvPr id="22" name="Text 20"/>
          <p:cNvSpPr/>
          <p:nvPr/>
        </p:nvSpPr>
        <p:spPr>
          <a:xfrm>
            <a:off x="4572000" y="4892040"/>
            <a:ext cx="3063240" cy="50292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Notifier les acteurs concernés</a:t>
            </a:r>
            <a:endParaRPr lang="en-US" sz="1500" dirty="0"/>
          </a:p>
        </p:txBody>
      </p:sp>
      <p:sp>
        <p:nvSpPr>
          <p:cNvPr id="23" name="Shape 21"/>
          <p:cNvSpPr/>
          <p:nvPr/>
        </p:nvSpPr>
        <p:spPr>
          <a:xfrm>
            <a:off x="8046720" y="4160520"/>
            <a:ext cx="3520440" cy="1508760"/>
          </a:xfrm>
          <a:prstGeom prst="roundRect">
            <a:avLst>
              <a:gd name="adj" fmla="val 6061"/>
            </a:avLst>
          </a:prstGeom>
          <a:solidFill>
            <a:srgbClr val="FFFFFF"/>
          </a:solidFill>
          <a:ln w="12700">
            <a:solidFill>
              <a:srgbClr val="D5E5DB"/>
            </a:solidFill>
            <a:prstDash val="solid"/>
          </a:ln>
        </p:spPr>
      </p:sp>
      <p:sp>
        <p:nvSpPr>
          <p:cNvPr id="24" name="Text 22"/>
          <p:cNvSpPr/>
          <p:nvPr/>
        </p:nvSpPr>
        <p:spPr>
          <a:xfrm>
            <a:off x="8275320" y="4434840"/>
            <a:ext cx="3063240" cy="365760"/>
          </a:xfrm>
          <a:prstGeom prst="rect">
            <a:avLst/>
          </a:prstGeom>
          <a:noFill/>
          <a:ln/>
        </p:spPr>
        <p:txBody>
          <a:bodyPr wrap="square" rtlCol="0" anchor="ctr"/>
          <a:lstStyle/>
          <a:p>
            <a:pPr indent="0" marL="0">
              <a:buNone/>
            </a:pPr>
            <a:r>
              <a:rPr lang="en-US" sz="1600" b="1" dirty="0">
                <a:solidFill>
                  <a:srgbClr val="1B5E3B"/>
                </a:solidFill>
                <a:latin typeface="Calibri" pitchFamily="34" charset="0"/>
                <a:ea typeface="Calibri" pitchFamily="34" charset="-122"/>
                <a:cs typeface="Calibri" pitchFamily="34" charset="-120"/>
              </a:rPr>
              <a:t>Quotidien</a:t>
            </a:r>
            <a:endParaRPr lang="en-US" sz="1600" dirty="0"/>
          </a:p>
        </p:txBody>
      </p:sp>
      <p:sp>
        <p:nvSpPr>
          <p:cNvPr id="25" name="Text 23"/>
          <p:cNvSpPr/>
          <p:nvPr/>
        </p:nvSpPr>
        <p:spPr>
          <a:xfrm>
            <a:off x="8275320" y="4892040"/>
            <a:ext cx="3063240" cy="50292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Générer le programme de la journée</a:t>
            </a:r>
            <a:endParaRPr lang="en-US" sz="1500" dirty="0"/>
          </a:p>
        </p:txBody>
      </p:sp>
      <p:sp>
        <p:nvSpPr>
          <p:cNvPr id="26" name="Shape 24"/>
          <p:cNvSpPr/>
          <p:nvPr/>
        </p:nvSpPr>
        <p:spPr>
          <a:xfrm>
            <a:off x="0" y="6537960"/>
            <a:ext cx="12191695" cy="320040"/>
          </a:xfrm>
          <a:prstGeom prst="rect">
            <a:avLst/>
          </a:prstGeom>
          <a:solidFill>
            <a:srgbClr val="E8F5EE"/>
          </a:solidFill>
          <a:ln w="12700">
            <a:solidFill>
              <a:srgbClr val="E8F5EE"/>
            </a:solidFill>
            <a:prstDash val="solid"/>
          </a:ln>
        </p:spPr>
      </p:sp>
      <p:sp>
        <p:nvSpPr>
          <p:cNvPr id="27" name="Text 25"/>
          <p:cNvSpPr/>
          <p:nvPr/>
        </p:nvSpPr>
        <p:spPr>
          <a:xfrm>
            <a:off x="457200" y="6565392"/>
            <a:ext cx="7315200" cy="256032"/>
          </a:xfrm>
          <a:prstGeom prst="rect">
            <a:avLst/>
          </a:prstGeom>
          <a:noFill/>
          <a:ln/>
        </p:spPr>
        <p:txBody>
          <a:bodyPr wrap="square" rtlCol="0" anchor="ctr"/>
          <a:lstStyle/>
          <a:p>
            <a:pPr indent="0" marL="0">
              <a:buNone/>
            </a:pPr>
            <a:r>
              <a:rPr lang="en-US" sz="1000" dirty="0">
                <a:solidFill>
                  <a:srgbClr val="5B6B63"/>
                </a:solidFill>
                <a:latin typeface="Calibri" pitchFamily="34" charset="0"/>
                <a:ea typeface="Calibri" pitchFamily="34" charset="-122"/>
                <a:cs typeface="Calibri" pitchFamily="34" charset="-120"/>
              </a:rPr>
              <a:t>ARPT / DG / DGA · Usage interne</a:t>
            </a:r>
            <a:endParaRPr lang="en-US" sz="1000" dirty="0"/>
          </a:p>
        </p:txBody>
      </p:sp>
      <p:sp>
        <p:nvSpPr>
          <p:cNvPr id="28" name="Text 26"/>
          <p:cNvSpPr/>
          <p:nvPr/>
        </p:nvSpPr>
        <p:spPr>
          <a:xfrm>
            <a:off x="10515600" y="6565392"/>
            <a:ext cx="1188720" cy="256032"/>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4 / 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64592" cy="6858000"/>
          </a:xfrm>
          <a:prstGeom prst="rect">
            <a:avLst/>
          </a:prstGeom>
          <a:solidFill>
            <a:srgbClr val="1B5E3B"/>
          </a:solidFill>
          <a:ln w="12700">
            <a:solidFill>
              <a:srgbClr val="1B5E3B"/>
            </a:solidFill>
            <a:prstDash val="solid"/>
          </a:ln>
        </p:spPr>
      </p:sp>
      <p:sp>
        <p:nvSpPr>
          <p:cNvPr id="4" name="Text 2"/>
          <p:cNvSpPr/>
          <p:nvPr/>
        </p:nvSpPr>
        <p:spPr>
          <a:xfrm>
            <a:off x="640080" y="274320"/>
            <a:ext cx="10515600" cy="320040"/>
          </a:xfrm>
          <a:prstGeom prst="rect">
            <a:avLst/>
          </a:prstGeom>
          <a:noFill/>
          <a:ln/>
        </p:spPr>
        <p:txBody>
          <a:bodyPr wrap="square" rtlCol="0" anchor="ctr"/>
          <a:lstStyle/>
          <a:p>
            <a:pPr indent="0" marL="0">
              <a:buNone/>
            </a:pPr>
            <a:r>
              <a:rPr lang="en-US" sz="1400" b="1" dirty="0">
                <a:solidFill>
                  <a:srgbClr val="1B5E3B"/>
                </a:solidFill>
                <a:latin typeface="Calibri" pitchFamily="34" charset="0"/>
                <a:ea typeface="Calibri" pitchFamily="34" charset="-122"/>
                <a:cs typeface="Calibri" pitchFamily="34" charset="-120"/>
              </a:rPr>
              <a:t>02.2  ·  Traçabilité</a:t>
            </a:r>
            <a:endParaRPr lang="en-US" sz="1400" dirty="0"/>
          </a:p>
        </p:txBody>
      </p:sp>
      <p:sp>
        <p:nvSpPr>
          <p:cNvPr id="5" name="Text 3"/>
          <p:cNvSpPr/>
          <p:nvPr/>
        </p:nvSpPr>
        <p:spPr>
          <a:xfrm>
            <a:off x="640080" y="594360"/>
            <a:ext cx="10515600" cy="457200"/>
          </a:xfrm>
          <a:prstGeom prst="rect">
            <a:avLst/>
          </a:prstGeom>
          <a:noFill/>
          <a:ln/>
        </p:spPr>
        <p:txBody>
          <a:bodyPr wrap="square" rtlCol="0" anchor="ctr"/>
          <a:lstStyle/>
          <a:p>
            <a:pPr indent="0" marL="0">
              <a:buNone/>
            </a:pPr>
            <a:r>
              <a:rPr lang="en-US" sz="2600" b="1" dirty="0">
                <a:solidFill>
                  <a:srgbClr val="0F3D28"/>
                </a:solidFill>
                <a:latin typeface="Calibri" pitchFamily="34" charset="0"/>
                <a:ea typeface="Calibri" pitchFamily="34" charset="-122"/>
                <a:cs typeface="Calibri" pitchFamily="34" charset="-120"/>
              </a:rPr>
              <a:t>Un argument fort dans une administration</a:t>
            </a:r>
            <a:endParaRPr lang="en-US" sz="2600" dirty="0"/>
          </a:p>
        </p:txBody>
      </p:sp>
      <p:sp>
        <p:nvSpPr>
          <p:cNvPr id="6" name="Shape 4"/>
          <p:cNvSpPr/>
          <p:nvPr/>
        </p:nvSpPr>
        <p:spPr>
          <a:xfrm>
            <a:off x="640080" y="1143000"/>
            <a:ext cx="10881360" cy="1097280"/>
          </a:xfrm>
          <a:prstGeom prst="roundRect">
            <a:avLst>
              <a:gd name="adj" fmla="val 8333"/>
            </a:avLst>
          </a:prstGeom>
          <a:solidFill>
            <a:srgbClr val="E8F5EE"/>
          </a:solidFill>
          <a:ln w="12700">
            <a:solidFill>
              <a:srgbClr val="D5E5DB"/>
            </a:solidFill>
            <a:prstDash val="solid"/>
          </a:ln>
        </p:spPr>
      </p:sp>
      <p:sp>
        <p:nvSpPr>
          <p:cNvPr id="7" name="Text 5"/>
          <p:cNvSpPr/>
          <p:nvPr/>
        </p:nvSpPr>
        <p:spPr>
          <a:xfrm>
            <a:off x="868680" y="1280160"/>
            <a:ext cx="10424160" cy="82296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Chaque action est tracée. À tout moment, il est possible de savoir qui a créé, modifié, validé ou reporté un rendez-vous. Cette traçabilité améliore la transparence et facilite le suivi administratif.</a:t>
            </a:r>
            <a:endParaRPr lang="en-US" sz="1500" dirty="0"/>
          </a:p>
        </p:txBody>
      </p:sp>
      <p:sp>
        <p:nvSpPr>
          <p:cNvPr id="8" name="Shape 6"/>
          <p:cNvSpPr/>
          <p:nvPr/>
        </p:nvSpPr>
        <p:spPr>
          <a:xfrm>
            <a:off x="640080" y="2514600"/>
            <a:ext cx="5394960" cy="914400"/>
          </a:xfrm>
          <a:prstGeom prst="roundRect">
            <a:avLst>
              <a:gd name="adj" fmla="val 8000"/>
            </a:avLst>
          </a:prstGeom>
          <a:solidFill>
            <a:srgbClr val="FFFFFF"/>
          </a:solidFill>
          <a:ln w="12700">
            <a:solidFill>
              <a:srgbClr val="D5E5DB"/>
            </a:solidFill>
            <a:prstDash val="solid"/>
          </a:ln>
        </p:spPr>
      </p:sp>
      <p:sp>
        <p:nvSpPr>
          <p:cNvPr id="9" name="Shape 7"/>
          <p:cNvSpPr/>
          <p:nvPr/>
        </p:nvSpPr>
        <p:spPr>
          <a:xfrm>
            <a:off x="868680" y="2807208"/>
            <a:ext cx="320040" cy="320040"/>
          </a:xfrm>
          <a:prstGeom prst="ellipse">
            <a:avLst/>
          </a:prstGeom>
          <a:solidFill>
            <a:srgbClr val="1B5E3B"/>
          </a:solidFill>
          <a:ln w="12700">
            <a:solidFill>
              <a:srgbClr val="1B5E3B"/>
            </a:solidFill>
            <a:prstDash val="solid"/>
          </a:ln>
        </p:spPr>
      </p:sp>
      <p:sp>
        <p:nvSpPr>
          <p:cNvPr id="10" name="Text 8"/>
          <p:cNvSpPr/>
          <p:nvPr/>
        </p:nvSpPr>
        <p:spPr>
          <a:xfrm>
            <a:off x="868680" y="280720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1371600" y="2743200"/>
            <a:ext cx="4389120" cy="45720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Chaque demande est enregistrée</a:t>
            </a:r>
            <a:endParaRPr lang="en-US" sz="1500" dirty="0"/>
          </a:p>
        </p:txBody>
      </p:sp>
      <p:sp>
        <p:nvSpPr>
          <p:cNvPr id="12" name="Shape 10"/>
          <p:cNvSpPr/>
          <p:nvPr/>
        </p:nvSpPr>
        <p:spPr>
          <a:xfrm>
            <a:off x="6217920" y="2514600"/>
            <a:ext cx="5394960" cy="914400"/>
          </a:xfrm>
          <a:prstGeom prst="roundRect">
            <a:avLst>
              <a:gd name="adj" fmla="val 8000"/>
            </a:avLst>
          </a:prstGeom>
          <a:solidFill>
            <a:srgbClr val="FFFFFF"/>
          </a:solidFill>
          <a:ln w="12700">
            <a:solidFill>
              <a:srgbClr val="D5E5DB"/>
            </a:solidFill>
            <a:prstDash val="solid"/>
          </a:ln>
        </p:spPr>
      </p:sp>
      <p:sp>
        <p:nvSpPr>
          <p:cNvPr id="13" name="Shape 11"/>
          <p:cNvSpPr/>
          <p:nvPr/>
        </p:nvSpPr>
        <p:spPr>
          <a:xfrm>
            <a:off x="6446520" y="2807208"/>
            <a:ext cx="320040" cy="320040"/>
          </a:xfrm>
          <a:prstGeom prst="ellipse">
            <a:avLst/>
          </a:prstGeom>
          <a:solidFill>
            <a:srgbClr val="1B5E3B"/>
          </a:solidFill>
          <a:ln w="12700">
            <a:solidFill>
              <a:srgbClr val="1B5E3B"/>
            </a:solidFill>
            <a:prstDash val="solid"/>
          </a:ln>
        </p:spPr>
      </p:sp>
      <p:sp>
        <p:nvSpPr>
          <p:cNvPr id="14" name="Text 12"/>
          <p:cNvSpPr/>
          <p:nvPr/>
        </p:nvSpPr>
        <p:spPr>
          <a:xfrm>
            <a:off x="6446520" y="280720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6949440" y="2743200"/>
            <a:ext cx="4389120" cy="45720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Chaque modification est historisée</a:t>
            </a:r>
            <a:endParaRPr lang="en-US" sz="1500" dirty="0"/>
          </a:p>
        </p:txBody>
      </p:sp>
      <p:sp>
        <p:nvSpPr>
          <p:cNvPr id="16" name="Shape 14"/>
          <p:cNvSpPr/>
          <p:nvPr/>
        </p:nvSpPr>
        <p:spPr>
          <a:xfrm>
            <a:off x="640080" y="3566160"/>
            <a:ext cx="5394960" cy="914400"/>
          </a:xfrm>
          <a:prstGeom prst="roundRect">
            <a:avLst>
              <a:gd name="adj" fmla="val 8000"/>
            </a:avLst>
          </a:prstGeom>
          <a:solidFill>
            <a:srgbClr val="FFFFFF"/>
          </a:solidFill>
          <a:ln w="12700">
            <a:solidFill>
              <a:srgbClr val="D5E5DB"/>
            </a:solidFill>
            <a:prstDash val="solid"/>
          </a:ln>
        </p:spPr>
      </p:sp>
      <p:sp>
        <p:nvSpPr>
          <p:cNvPr id="17" name="Shape 15"/>
          <p:cNvSpPr/>
          <p:nvPr/>
        </p:nvSpPr>
        <p:spPr>
          <a:xfrm>
            <a:off x="868680" y="3858768"/>
            <a:ext cx="320040" cy="320040"/>
          </a:xfrm>
          <a:prstGeom prst="ellipse">
            <a:avLst/>
          </a:prstGeom>
          <a:solidFill>
            <a:srgbClr val="1B5E3B"/>
          </a:solidFill>
          <a:ln w="12700">
            <a:solidFill>
              <a:srgbClr val="1B5E3B"/>
            </a:solidFill>
            <a:prstDash val="solid"/>
          </a:ln>
        </p:spPr>
      </p:sp>
      <p:sp>
        <p:nvSpPr>
          <p:cNvPr id="18" name="Text 16"/>
          <p:cNvSpPr/>
          <p:nvPr/>
        </p:nvSpPr>
        <p:spPr>
          <a:xfrm>
            <a:off x="868680" y="385876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371600" y="3794760"/>
            <a:ext cx="4389120" cy="45720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On sait qui a effectué une action</a:t>
            </a:r>
            <a:endParaRPr lang="en-US" sz="1500" dirty="0"/>
          </a:p>
        </p:txBody>
      </p:sp>
      <p:sp>
        <p:nvSpPr>
          <p:cNvPr id="20" name="Shape 18"/>
          <p:cNvSpPr/>
          <p:nvPr/>
        </p:nvSpPr>
        <p:spPr>
          <a:xfrm>
            <a:off x="6217920" y="3566160"/>
            <a:ext cx="5394960" cy="914400"/>
          </a:xfrm>
          <a:prstGeom prst="roundRect">
            <a:avLst>
              <a:gd name="adj" fmla="val 8000"/>
            </a:avLst>
          </a:prstGeom>
          <a:solidFill>
            <a:srgbClr val="FFFFFF"/>
          </a:solidFill>
          <a:ln w="12700">
            <a:solidFill>
              <a:srgbClr val="D5E5DB"/>
            </a:solidFill>
            <a:prstDash val="solid"/>
          </a:ln>
        </p:spPr>
      </p:sp>
      <p:sp>
        <p:nvSpPr>
          <p:cNvPr id="21" name="Shape 19"/>
          <p:cNvSpPr/>
          <p:nvPr/>
        </p:nvSpPr>
        <p:spPr>
          <a:xfrm>
            <a:off x="6446520" y="3858768"/>
            <a:ext cx="320040" cy="320040"/>
          </a:xfrm>
          <a:prstGeom prst="ellipse">
            <a:avLst/>
          </a:prstGeom>
          <a:solidFill>
            <a:srgbClr val="1B5E3B"/>
          </a:solidFill>
          <a:ln w="12700">
            <a:solidFill>
              <a:srgbClr val="1B5E3B"/>
            </a:solidFill>
            <a:prstDash val="solid"/>
          </a:ln>
        </p:spPr>
      </p:sp>
      <p:sp>
        <p:nvSpPr>
          <p:cNvPr id="22" name="Text 20"/>
          <p:cNvSpPr/>
          <p:nvPr/>
        </p:nvSpPr>
        <p:spPr>
          <a:xfrm>
            <a:off x="6446520" y="385876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6949440" y="3794760"/>
            <a:ext cx="4389120" cy="45720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On connaît la date et l’heure de chaque intervention</a:t>
            </a:r>
            <a:endParaRPr lang="en-US" sz="1500" dirty="0"/>
          </a:p>
        </p:txBody>
      </p:sp>
      <p:sp>
        <p:nvSpPr>
          <p:cNvPr id="24" name="Shape 22"/>
          <p:cNvSpPr/>
          <p:nvPr/>
        </p:nvSpPr>
        <p:spPr>
          <a:xfrm>
            <a:off x="640080" y="4617720"/>
            <a:ext cx="5394960" cy="914400"/>
          </a:xfrm>
          <a:prstGeom prst="roundRect">
            <a:avLst>
              <a:gd name="adj" fmla="val 8000"/>
            </a:avLst>
          </a:prstGeom>
          <a:solidFill>
            <a:srgbClr val="FFFFFF"/>
          </a:solidFill>
          <a:ln w="12700">
            <a:solidFill>
              <a:srgbClr val="D5E5DB"/>
            </a:solidFill>
            <a:prstDash val="solid"/>
          </a:ln>
        </p:spPr>
      </p:sp>
      <p:sp>
        <p:nvSpPr>
          <p:cNvPr id="25" name="Shape 23"/>
          <p:cNvSpPr/>
          <p:nvPr/>
        </p:nvSpPr>
        <p:spPr>
          <a:xfrm>
            <a:off x="868680" y="4910328"/>
            <a:ext cx="320040" cy="320040"/>
          </a:xfrm>
          <a:prstGeom prst="ellipse">
            <a:avLst/>
          </a:prstGeom>
          <a:solidFill>
            <a:srgbClr val="1B5E3B"/>
          </a:solidFill>
          <a:ln w="12700">
            <a:solidFill>
              <a:srgbClr val="1B5E3B"/>
            </a:solidFill>
            <a:prstDash val="solid"/>
          </a:ln>
        </p:spPr>
      </p:sp>
      <p:sp>
        <p:nvSpPr>
          <p:cNvPr id="26" name="Text 24"/>
          <p:cNvSpPr/>
          <p:nvPr/>
        </p:nvSpPr>
        <p:spPr>
          <a:xfrm>
            <a:off x="868680" y="491032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1371600" y="4846320"/>
            <a:ext cx="4389120" cy="45720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Aucun document n’est perdu</a:t>
            </a:r>
            <a:endParaRPr lang="en-US" sz="1500" dirty="0"/>
          </a:p>
        </p:txBody>
      </p:sp>
      <p:sp>
        <p:nvSpPr>
          <p:cNvPr id="28" name="Shape 26"/>
          <p:cNvSpPr/>
          <p:nvPr/>
        </p:nvSpPr>
        <p:spPr>
          <a:xfrm>
            <a:off x="6217920" y="4617720"/>
            <a:ext cx="5394960" cy="914400"/>
          </a:xfrm>
          <a:prstGeom prst="roundRect">
            <a:avLst>
              <a:gd name="adj" fmla="val 8000"/>
            </a:avLst>
          </a:prstGeom>
          <a:solidFill>
            <a:srgbClr val="FFFFFF"/>
          </a:solidFill>
          <a:ln w="12700">
            <a:solidFill>
              <a:srgbClr val="D5E5DB"/>
            </a:solidFill>
            <a:prstDash val="solid"/>
          </a:ln>
        </p:spPr>
      </p:sp>
      <p:sp>
        <p:nvSpPr>
          <p:cNvPr id="29" name="Shape 27"/>
          <p:cNvSpPr/>
          <p:nvPr/>
        </p:nvSpPr>
        <p:spPr>
          <a:xfrm>
            <a:off x="6446520" y="4910328"/>
            <a:ext cx="320040" cy="320040"/>
          </a:xfrm>
          <a:prstGeom prst="ellipse">
            <a:avLst/>
          </a:prstGeom>
          <a:solidFill>
            <a:srgbClr val="1B5E3B"/>
          </a:solidFill>
          <a:ln w="12700">
            <a:solidFill>
              <a:srgbClr val="1B5E3B"/>
            </a:solidFill>
            <a:prstDash val="solid"/>
          </a:ln>
        </p:spPr>
      </p:sp>
      <p:sp>
        <p:nvSpPr>
          <p:cNvPr id="30" name="Text 28"/>
          <p:cNvSpPr/>
          <p:nvPr/>
        </p:nvSpPr>
        <p:spPr>
          <a:xfrm>
            <a:off x="6446520" y="491032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1" name="Text 29"/>
          <p:cNvSpPr/>
          <p:nvPr/>
        </p:nvSpPr>
        <p:spPr>
          <a:xfrm>
            <a:off x="6949440" y="4846320"/>
            <a:ext cx="4389120" cy="45720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Le contrôle par rôle sécurise les accès</a:t>
            </a:r>
            <a:endParaRPr lang="en-US" sz="1500" dirty="0"/>
          </a:p>
        </p:txBody>
      </p:sp>
      <p:sp>
        <p:nvSpPr>
          <p:cNvPr id="32" name="Shape 30"/>
          <p:cNvSpPr/>
          <p:nvPr/>
        </p:nvSpPr>
        <p:spPr>
          <a:xfrm>
            <a:off x="0" y="6537960"/>
            <a:ext cx="12191695" cy="320040"/>
          </a:xfrm>
          <a:prstGeom prst="rect">
            <a:avLst/>
          </a:prstGeom>
          <a:solidFill>
            <a:srgbClr val="E8F5EE"/>
          </a:solidFill>
          <a:ln w="12700">
            <a:solidFill>
              <a:srgbClr val="E8F5EE"/>
            </a:solidFill>
            <a:prstDash val="solid"/>
          </a:ln>
        </p:spPr>
      </p:sp>
      <p:sp>
        <p:nvSpPr>
          <p:cNvPr id="33" name="Text 31"/>
          <p:cNvSpPr/>
          <p:nvPr/>
        </p:nvSpPr>
        <p:spPr>
          <a:xfrm>
            <a:off x="457200" y="6565392"/>
            <a:ext cx="7315200" cy="256032"/>
          </a:xfrm>
          <a:prstGeom prst="rect">
            <a:avLst/>
          </a:prstGeom>
          <a:noFill/>
          <a:ln/>
        </p:spPr>
        <p:txBody>
          <a:bodyPr wrap="square" rtlCol="0" anchor="ctr"/>
          <a:lstStyle/>
          <a:p>
            <a:pPr indent="0" marL="0">
              <a:buNone/>
            </a:pPr>
            <a:r>
              <a:rPr lang="en-US" sz="1000" dirty="0">
                <a:solidFill>
                  <a:srgbClr val="5B6B63"/>
                </a:solidFill>
                <a:latin typeface="Calibri" pitchFamily="34" charset="0"/>
                <a:ea typeface="Calibri" pitchFamily="34" charset="-122"/>
                <a:cs typeface="Calibri" pitchFamily="34" charset="-120"/>
              </a:rPr>
              <a:t>ARPT / DG / DGA · Usage interne</a:t>
            </a:r>
            <a:endParaRPr lang="en-US" sz="1000" dirty="0"/>
          </a:p>
        </p:txBody>
      </p:sp>
      <p:sp>
        <p:nvSpPr>
          <p:cNvPr id="34" name="Text 32"/>
          <p:cNvSpPr/>
          <p:nvPr/>
        </p:nvSpPr>
        <p:spPr>
          <a:xfrm>
            <a:off x="10515600" y="6565392"/>
            <a:ext cx="1188720" cy="256032"/>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5 / 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64592" cy="6858000"/>
          </a:xfrm>
          <a:prstGeom prst="rect">
            <a:avLst/>
          </a:prstGeom>
          <a:solidFill>
            <a:srgbClr val="1B5E3B"/>
          </a:solidFill>
          <a:ln w="12700">
            <a:solidFill>
              <a:srgbClr val="1B5E3B"/>
            </a:solidFill>
            <a:prstDash val="solid"/>
          </a:ln>
        </p:spPr>
      </p:sp>
      <p:sp>
        <p:nvSpPr>
          <p:cNvPr id="4" name="Text 2"/>
          <p:cNvSpPr/>
          <p:nvPr/>
        </p:nvSpPr>
        <p:spPr>
          <a:xfrm>
            <a:off x="640080" y="274320"/>
            <a:ext cx="10515600" cy="320040"/>
          </a:xfrm>
          <a:prstGeom prst="rect">
            <a:avLst/>
          </a:prstGeom>
          <a:noFill/>
          <a:ln/>
        </p:spPr>
        <p:txBody>
          <a:bodyPr wrap="square" rtlCol="0" anchor="ctr"/>
          <a:lstStyle/>
          <a:p>
            <a:pPr indent="0" marL="0">
              <a:buNone/>
            </a:pPr>
            <a:r>
              <a:rPr lang="en-US" sz="1400" b="1" dirty="0">
                <a:solidFill>
                  <a:srgbClr val="1B5E3B"/>
                </a:solidFill>
                <a:latin typeface="Calibri" pitchFamily="34" charset="0"/>
                <a:ea typeface="Calibri" pitchFamily="34" charset="-122"/>
                <a:cs typeface="Calibri" pitchFamily="34" charset="-120"/>
              </a:rPr>
              <a:t>02.3  ·  Aide à la décision</a:t>
            </a:r>
            <a:endParaRPr lang="en-US" sz="1400" dirty="0"/>
          </a:p>
        </p:txBody>
      </p:sp>
      <p:sp>
        <p:nvSpPr>
          <p:cNvPr id="5" name="Text 3"/>
          <p:cNvSpPr/>
          <p:nvPr/>
        </p:nvSpPr>
        <p:spPr>
          <a:xfrm>
            <a:off x="640080" y="594360"/>
            <a:ext cx="10515600" cy="457200"/>
          </a:xfrm>
          <a:prstGeom prst="rect">
            <a:avLst/>
          </a:prstGeom>
          <a:noFill/>
          <a:ln/>
        </p:spPr>
        <p:txBody>
          <a:bodyPr wrap="square" rtlCol="0" anchor="ctr"/>
          <a:lstStyle/>
          <a:p>
            <a:pPr indent="0" marL="0">
              <a:buNone/>
            </a:pPr>
            <a:r>
              <a:rPr lang="en-US" sz="2600" b="1" dirty="0">
                <a:solidFill>
                  <a:srgbClr val="0F3D28"/>
                </a:solidFill>
                <a:latin typeface="Calibri" pitchFamily="34" charset="0"/>
                <a:ea typeface="Calibri" pitchFamily="34" charset="-122"/>
                <a:cs typeface="Calibri" pitchFamily="34" charset="-120"/>
              </a:rPr>
              <a:t>Une meilleure visibilité pour piloter</a:t>
            </a:r>
            <a:endParaRPr lang="en-US" sz="2600" dirty="0"/>
          </a:p>
        </p:txBody>
      </p:sp>
      <p:sp>
        <p:nvSpPr>
          <p:cNvPr id="6" name="Shape 4"/>
          <p:cNvSpPr/>
          <p:nvPr/>
        </p:nvSpPr>
        <p:spPr>
          <a:xfrm>
            <a:off x="502920" y="1371600"/>
            <a:ext cx="2148840" cy="3291840"/>
          </a:xfrm>
          <a:prstGeom prst="roundRect">
            <a:avLst>
              <a:gd name="adj" fmla="val 4255"/>
            </a:avLst>
          </a:prstGeom>
          <a:solidFill>
            <a:srgbClr val="FFFFFF"/>
          </a:solidFill>
          <a:ln w="12700">
            <a:solidFill>
              <a:srgbClr val="D5E5DB"/>
            </a:solidFill>
            <a:prstDash val="solid"/>
          </a:ln>
        </p:spPr>
      </p:sp>
      <p:sp>
        <p:nvSpPr>
          <p:cNvPr id="7" name="Text 5"/>
          <p:cNvSpPr/>
          <p:nvPr/>
        </p:nvSpPr>
        <p:spPr>
          <a:xfrm>
            <a:off x="594360" y="1920240"/>
            <a:ext cx="1965960" cy="640080"/>
          </a:xfrm>
          <a:prstGeom prst="rect">
            <a:avLst/>
          </a:prstGeom>
          <a:noFill/>
          <a:ln/>
        </p:spPr>
        <p:txBody>
          <a:bodyPr wrap="square" rtlCol="0" anchor="ctr"/>
          <a:lstStyle/>
          <a:p>
            <a:pPr algn="ctr" indent="0" marL="0">
              <a:buNone/>
            </a:pPr>
            <a:r>
              <a:rPr lang="en-US" sz="2200" b="1" dirty="0">
                <a:solidFill>
                  <a:srgbClr val="1B5E3B"/>
                </a:solidFill>
                <a:latin typeface="Calibri" pitchFamily="34" charset="0"/>
                <a:ea typeface="Calibri" pitchFamily="34" charset="-122"/>
                <a:cs typeface="Calibri" pitchFamily="34" charset="-120"/>
              </a:rPr>
              <a:t>Hebdo</a:t>
            </a:r>
            <a:endParaRPr lang="en-US" sz="2200" dirty="0"/>
          </a:p>
        </p:txBody>
      </p:sp>
      <p:sp>
        <p:nvSpPr>
          <p:cNvPr id="8" name="Text 6"/>
          <p:cNvSpPr/>
          <p:nvPr/>
        </p:nvSpPr>
        <p:spPr>
          <a:xfrm>
            <a:off x="640080" y="2834640"/>
            <a:ext cx="1874520" cy="1280160"/>
          </a:xfrm>
          <a:prstGeom prst="rect">
            <a:avLst/>
          </a:prstGeom>
          <a:noFill/>
          <a:ln/>
        </p:spPr>
        <p:txBody>
          <a:bodyPr wrap="square" rtlCol="0" anchor="ctr"/>
          <a:lstStyle/>
          <a:p>
            <a:pPr algn="ctr" indent="0" marL="0">
              <a:buNone/>
            </a:pPr>
            <a:r>
              <a:rPr lang="en-US" sz="1400" dirty="0">
                <a:solidFill>
                  <a:srgbClr val="5B6B63"/>
                </a:solidFill>
                <a:latin typeface="Calibri" pitchFamily="34" charset="0"/>
                <a:ea typeface="Calibri" pitchFamily="34" charset="-122"/>
                <a:cs typeface="Calibri" pitchFamily="34" charset="-120"/>
              </a:rPr>
              <a:t>Nombre de rendez-vous</a:t>
            </a:r>
            <a:endParaRPr lang="en-US" sz="1400" dirty="0"/>
          </a:p>
          <a:p>
            <a:pPr algn="ctr" indent="0" marL="0">
              <a:buNone/>
            </a:pPr>
            <a:r>
              <a:rPr lang="en-US" sz="1400" dirty="0">
                <a:solidFill>
                  <a:srgbClr val="5B6B63"/>
                </a:solidFill>
                <a:latin typeface="Calibri" pitchFamily="34" charset="0"/>
                <a:ea typeface="Calibri" pitchFamily="34" charset="-122"/>
                <a:cs typeface="Calibri" pitchFamily="34" charset="-120"/>
              </a:rPr>
              <a:t>par semaine</a:t>
            </a:r>
            <a:endParaRPr lang="en-US" sz="1400" dirty="0"/>
          </a:p>
        </p:txBody>
      </p:sp>
      <p:sp>
        <p:nvSpPr>
          <p:cNvPr id="9" name="Shape 7"/>
          <p:cNvSpPr/>
          <p:nvPr/>
        </p:nvSpPr>
        <p:spPr>
          <a:xfrm>
            <a:off x="2788920" y="1371600"/>
            <a:ext cx="2148840" cy="3291840"/>
          </a:xfrm>
          <a:prstGeom prst="roundRect">
            <a:avLst>
              <a:gd name="adj" fmla="val 4255"/>
            </a:avLst>
          </a:prstGeom>
          <a:solidFill>
            <a:srgbClr val="FFFFFF"/>
          </a:solidFill>
          <a:ln w="12700">
            <a:solidFill>
              <a:srgbClr val="D5E5DB"/>
            </a:solidFill>
            <a:prstDash val="solid"/>
          </a:ln>
        </p:spPr>
      </p:sp>
      <p:sp>
        <p:nvSpPr>
          <p:cNvPr id="10" name="Text 8"/>
          <p:cNvSpPr/>
          <p:nvPr/>
        </p:nvSpPr>
        <p:spPr>
          <a:xfrm>
            <a:off x="2880360" y="1920240"/>
            <a:ext cx="1965960" cy="640080"/>
          </a:xfrm>
          <a:prstGeom prst="rect">
            <a:avLst/>
          </a:prstGeom>
          <a:noFill/>
          <a:ln/>
        </p:spPr>
        <p:txBody>
          <a:bodyPr wrap="square" rtlCol="0" anchor="ctr"/>
          <a:lstStyle/>
          <a:p>
            <a:pPr algn="ctr" indent="0" marL="0">
              <a:buNone/>
            </a:pPr>
            <a:r>
              <a:rPr lang="en-US" sz="2200" b="1" dirty="0">
                <a:solidFill>
                  <a:srgbClr val="1B5E3B"/>
                </a:solidFill>
                <a:latin typeface="Calibri" pitchFamily="34" charset="0"/>
                <a:ea typeface="Calibri" pitchFamily="34" charset="-122"/>
                <a:cs typeface="Calibri" pitchFamily="34" charset="-120"/>
              </a:rPr>
              <a:t>Top</a:t>
            </a:r>
            <a:endParaRPr lang="en-US" sz="2200" dirty="0"/>
          </a:p>
        </p:txBody>
      </p:sp>
      <p:sp>
        <p:nvSpPr>
          <p:cNvPr id="11" name="Text 9"/>
          <p:cNvSpPr/>
          <p:nvPr/>
        </p:nvSpPr>
        <p:spPr>
          <a:xfrm>
            <a:off x="2926080" y="2834640"/>
            <a:ext cx="1874520" cy="1280160"/>
          </a:xfrm>
          <a:prstGeom prst="rect">
            <a:avLst/>
          </a:prstGeom>
          <a:noFill/>
          <a:ln/>
        </p:spPr>
        <p:txBody>
          <a:bodyPr wrap="square" rtlCol="0" anchor="ctr"/>
          <a:lstStyle/>
          <a:p>
            <a:pPr algn="ctr" indent="0" marL="0">
              <a:buNone/>
            </a:pPr>
            <a:r>
              <a:rPr lang="en-US" sz="1400" dirty="0">
                <a:solidFill>
                  <a:srgbClr val="5B6B63"/>
                </a:solidFill>
                <a:latin typeface="Calibri" pitchFamily="34" charset="0"/>
                <a:ea typeface="Calibri" pitchFamily="34" charset="-122"/>
                <a:cs typeface="Calibri" pitchFamily="34" charset="-120"/>
              </a:rPr>
              <a:t>Institutions</a:t>
            </a:r>
            <a:endParaRPr lang="en-US" sz="1400" dirty="0"/>
          </a:p>
          <a:p>
            <a:pPr algn="ctr" indent="0" marL="0">
              <a:buNone/>
            </a:pPr>
            <a:r>
              <a:rPr lang="en-US" sz="1400" dirty="0">
                <a:solidFill>
                  <a:srgbClr val="5B6B63"/>
                </a:solidFill>
                <a:latin typeface="Calibri" pitchFamily="34" charset="0"/>
                <a:ea typeface="Calibri" pitchFamily="34" charset="-122"/>
                <a:cs typeface="Calibri" pitchFamily="34" charset="-120"/>
              </a:rPr>
              <a:t>les plus reçues</a:t>
            </a:r>
            <a:endParaRPr lang="en-US" sz="1400" dirty="0"/>
          </a:p>
        </p:txBody>
      </p:sp>
      <p:sp>
        <p:nvSpPr>
          <p:cNvPr id="12" name="Shape 10"/>
          <p:cNvSpPr/>
          <p:nvPr/>
        </p:nvSpPr>
        <p:spPr>
          <a:xfrm>
            <a:off x="5074920" y="1371600"/>
            <a:ext cx="2148840" cy="3291840"/>
          </a:xfrm>
          <a:prstGeom prst="roundRect">
            <a:avLst>
              <a:gd name="adj" fmla="val 4255"/>
            </a:avLst>
          </a:prstGeom>
          <a:solidFill>
            <a:srgbClr val="1B5E3B"/>
          </a:solidFill>
          <a:ln w="12700">
            <a:solidFill>
              <a:srgbClr val="1B5E3B"/>
            </a:solidFill>
            <a:prstDash val="solid"/>
          </a:ln>
        </p:spPr>
      </p:sp>
      <p:sp>
        <p:nvSpPr>
          <p:cNvPr id="13" name="Text 11"/>
          <p:cNvSpPr/>
          <p:nvPr/>
        </p:nvSpPr>
        <p:spPr>
          <a:xfrm>
            <a:off x="5166360" y="1920240"/>
            <a:ext cx="196596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Délai</a:t>
            </a:r>
            <a:endParaRPr lang="en-US" sz="2200" dirty="0"/>
          </a:p>
        </p:txBody>
      </p:sp>
      <p:sp>
        <p:nvSpPr>
          <p:cNvPr id="14" name="Text 12"/>
          <p:cNvSpPr/>
          <p:nvPr/>
        </p:nvSpPr>
        <p:spPr>
          <a:xfrm>
            <a:off x="5212080" y="2834640"/>
            <a:ext cx="1874520" cy="1280160"/>
          </a:xfrm>
          <a:prstGeom prst="rect">
            <a:avLst/>
          </a:prstGeom>
          <a:noFill/>
          <a:ln/>
        </p:spPr>
        <p:txBody>
          <a:bodyPr wrap="square" rtlCol="0" anchor="ctr"/>
          <a:lstStyle/>
          <a:p>
            <a:pPr algn="ctr" indent="0" marL="0">
              <a:buNone/>
            </a:pPr>
            <a:r>
              <a:rPr lang="en-US" sz="1400" dirty="0">
                <a:solidFill>
                  <a:srgbClr val="E8F5EE"/>
                </a:solidFill>
                <a:latin typeface="Calibri" pitchFamily="34" charset="0"/>
                <a:ea typeface="Calibri" pitchFamily="34" charset="-122"/>
                <a:cs typeface="Calibri" pitchFamily="34" charset="-120"/>
              </a:rPr>
              <a:t>Temps moyen</a:t>
            </a:r>
            <a:endParaRPr lang="en-US" sz="1400" dirty="0"/>
          </a:p>
          <a:p>
            <a:pPr algn="ctr" indent="0" marL="0">
              <a:buNone/>
            </a:pPr>
            <a:r>
              <a:rPr lang="en-US" sz="1400" dirty="0">
                <a:solidFill>
                  <a:srgbClr val="E8F5EE"/>
                </a:solidFill>
                <a:latin typeface="Calibri" pitchFamily="34" charset="0"/>
                <a:ea typeface="Calibri" pitchFamily="34" charset="-122"/>
                <a:cs typeface="Calibri" pitchFamily="34" charset="-120"/>
              </a:rPr>
              <a:t>de traitement</a:t>
            </a:r>
            <a:endParaRPr lang="en-US" sz="1400" dirty="0"/>
          </a:p>
        </p:txBody>
      </p:sp>
      <p:sp>
        <p:nvSpPr>
          <p:cNvPr id="15" name="Shape 13"/>
          <p:cNvSpPr/>
          <p:nvPr/>
        </p:nvSpPr>
        <p:spPr>
          <a:xfrm>
            <a:off x="7360920" y="1371600"/>
            <a:ext cx="2148840" cy="3291840"/>
          </a:xfrm>
          <a:prstGeom prst="roundRect">
            <a:avLst>
              <a:gd name="adj" fmla="val 4255"/>
            </a:avLst>
          </a:prstGeom>
          <a:solidFill>
            <a:srgbClr val="FFFFFF"/>
          </a:solidFill>
          <a:ln w="12700">
            <a:solidFill>
              <a:srgbClr val="D5E5DB"/>
            </a:solidFill>
            <a:prstDash val="solid"/>
          </a:ln>
        </p:spPr>
      </p:sp>
      <p:sp>
        <p:nvSpPr>
          <p:cNvPr id="16" name="Text 14"/>
          <p:cNvSpPr/>
          <p:nvPr/>
        </p:nvSpPr>
        <p:spPr>
          <a:xfrm>
            <a:off x="7452360" y="1920240"/>
            <a:ext cx="1965960" cy="640080"/>
          </a:xfrm>
          <a:prstGeom prst="rect">
            <a:avLst/>
          </a:prstGeom>
          <a:noFill/>
          <a:ln/>
        </p:spPr>
        <p:txBody>
          <a:bodyPr wrap="square" rtlCol="0" anchor="ctr"/>
          <a:lstStyle/>
          <a:p>
            <a:pPr algn="ctr" indent="0" marL="0">
              <a:buNone/>
            </a:pPr>
            <a:r>
              <a:rPr lang="en-US" sz="2200" b="1" dirty="0">
                <a:solidFill>
                  <a:srgbClr val="1B5E3B"/>
                </a:solidFill>
                <a:latin typeface="Calibri" pitchFamily="34" charset="0"/>
                <a:ea typeface="Calibri" pitchFamily="34" charset="-122"/>
                <a:cs typeface="Calibri" pitchFamily="34" charset="-120"/>
              </a:rPr>
              <a:t>Charge</a:t>
            </a:r>
            <a:endParaRPr lang="en-US" sz="2200" dirty="0"/>
          </a:p>
        </p:txBody>
      </p:sp>
      <p:sp>
        <p:nvSpPr>
          <p:cNvPr id="17" name="Text 15"/>
          <p:cNvSpPr/>
          <p:nvPr/>
        </p:nvSpPr>
        <p:spPr>
          <a:xfrm>
            <a:off x="7498080" y="2834640"/>
            <a:ext cx="1874520" cy="1280160"/>
          </a:xfrm>
          <a:prstGeom prst="rect">
            <a:avLst/>
          </a:prstGeom>
          <a:noFill/>
          <a:ln/>
        </p:spPr>
        <p:txBody>
          <a:bodyPr wrap="square" rtlCol="0" anchor="ctr"/>
          <a:lstStyle/>
          <a:p>
            <a:pPr algn="ctr" indent="0" marL="0">
              <a:buNone/>
            </a:pPr>
            <a:r>
              <a:rPr lang="en-US" sz="1400" dirty="0">
                <a:solidFill>
                  <a:srgbClr val="5B6B63"/>
                </a:solidFill>
                <a:latin typeface="Calibri" pitchFamily="34" charset="0"/>
                <a:ea typeface="Calibri" pitchFamily="34" charset="-122"/>
                <a:cs typeface="Calibri" pitchFamily="34" charset="-120"/>
              </a:rPr>
              <a:t>Périodes</a:t>
            </a:r>
            <a:endParaRPr lang="en-US" sz="1400" dirty="0"/>
          </a:p>
          <a:p>
            <a:pPr algn="ctr" indent="0" marL="0">
              <a:buNone/>
            </a:pPr>
            <a:r>
              <a:rPr lang="en-US" sz="1400" dirty="0">
                <a:solidFill>
                  <a:srgbClr val="5B6B63"/>
                </a:solidFill>
                <a:latin typeface="Calibri" pitchFamily="34" charset="0"/>
                <a:ea typeface="Calibri" pitchFamily="34" charset="-122"/>
                <a:cs typeface="Calibri" pitchFamily="34" charset="-120"/>
              </a:rPr>
              <a:t>les plus chargées</a:t>
            </a:r>
            <a:endParaRPr lang="en-US" sz="1400" dirty="0"/>
          </a:p>
        </p:txBody>
      </p:sp>
      <p:sp>
        <p:nvSpPr>
          <p:cNvPr id="18" name="Shape 16"/>
          <p:cNvSpPr/>
          <p:nvPr/>
        </p:nvSpPr>
        <p:spPr>
          <a:xfrm>
            <a:off x="9646920" y="1371600"/>
            <a:ext cx="2148840" cy="3291840"/>
          </a:xfrm>
          <a:prstGeom prst="roundRect">
            <a:avLst>
              <a:gd name="adj" fmla="val 4255"/>
            </a:avLst>
          </a:prstGeom>
          <a:solidFill>
            <a:srgbClr val="FFFFFF"/>
          </a:solidFill>
          <a:ln w="12700">
            <a:solidFill>
              <a:srgbClr val="D5E5DB"/>
            </a:solidFill>
            <a:prstDash val="solid"/>
          </a:ln>
        </p:spPr>
      </p:sp>
      <p:sp>
        <p:nvSpPr>
          <p:cNvPr id="19" name="Text 17"/>
          <p:cNvSpPr/>
          <p:nvPr/>
        </p:nvSpPr>
        <p:spPr>
          <a:xfrm>
            <a:off x="9738360" y="1920240"/>
            <a:ext cx="1965960" cy="640080"/>
          </a:xfrm>
          <a:prstGeom prst="rect">
            <a:avLst/>
          </a:prstGeom>
          <a:noFill/>
          <a:ln/>
        </p:spPr>
        <p:txBody>
          <a:bodyPr wrap="square" rtlCol="0" anchor="ctr"/>
          <a:lstStyle/>
          <a:p>
            <a:pPr algn="ctr" indent="0" marL="0">
              <a:buNone/>
            </a:pPr>
            <a:r>
              <a:rPr lang="en-US" sz="2200" b="1" dirty="0">
                <a:solidFill>
                  <a:srgbClr val="1B5E3B"/>
                </a:solidFill>
                <a:latin typeface="Calibri" pitchFamily="34" charset="0"/>
                <a:ea typeface="Calibri" pitchFamily="34" charset="-122"/>
                <a:cs typeface="Calibri" pitchFamily="34" charset="-120"/>
              </a:rPr>
              <a:t>File</a:t>
            </a:r>
            <a:endParaRPr lang="en-US" sz="2200" dirty="0"/>
          </a:p>
        </p:txBody>
      </p:sp>
      <p:sp>
        <p:nvSpPr>
          <p:cNvPr id="20" name="Text 18"/>
          <p:cNvSpPr/>
          <p:nvPr/>
        </p:nvSpPr>
        <p:spPr>
          <a:xfrm>
            <a:off x="9784080" y="2834640"/>
            <a:ext cx="1874520" cy="1280160"/>
          </a:xfrm>
          <a:prstGeom prst="rect">
            <a:avLst/>
          </a:prstGeom>
          <a:noFill/>
          <a:ln/>
        </p:spPr>
        <p:txBody>
          <a:bodyPr wrap="square" rtlCol="0" anchor="ctr"/>
          <a:lstStyle/>
          <a:p>
            <a:pPr algn="ctr" indent="0" marL="0">
              <a:buNone/>
            </a:pPr>
            <a:r>
              <a:rPr lang="en-US" sz="1400" dirty="0">
                <a:solidFill>
                  <a:srgbClr val="5B6B63"/>
                </a:solidFill>
                <a:latin typeface="Calibri" pitchFamily="34" charset="0"/>
                <a:ea typeface="Calibri" pitchFamily="34" charset="-122"/>
                <a:cs typeface="Calibri" pitchFamily="34" charset="-120"/>
              </a:rPr>
              <a:t>Dossiers</a:t>
            </a:r>
            <a:endParaRPr lang="en-US" sz="1400" dirty="0"/>
          </a:p>
          <a:p>
            <a:pPr algn="ctr" indent="0" marL="0">
              <a:buNone/>
            </a:pPr>
            <a:r>
              <a:rPr lang="en-US" sz="1400" dirty="0">
                <a:solidFill>
                  <a:srgbClr val="5B6B63"/>
                </a:solidFill>
                <a:latin typeface="Calibri" pitchFamily="34" charset="0"/>
                <a:ea typeface="Calibri" pitchFamily="34" charset="-122"/>
                <a:cs typeface="Calibri" pitchFamily="34" charset="-120"/>
              </a:rPr>
              <a:t>en attente</a:t>
            </a:r>
            <a:endParaRPr lang="en-US" sz="1400" dirty="0"/>
          </a:p>
        </p:txBody>
      </p:sp>
      <p:sp>
        <p:nvSpPr>
          <p:cNvPr id="21" name="Text 19"/>
          <p:cNvSpPr/>
          <p:nvPr/>
        </p:nvSpPr>
        <p:spPr>
          <a:xfrm>
            <a:off x="640080" y="4937760"/>
            <a:ext cx="10881360" cy="822960"/>
          </a:xfrm>
          <a:prstGeom prst="rect">
            <a:avLst/>
          </a:prstGeom>
          <a:noFill/>
          <a:ln/>
        </p:spPr>
        <p:txBody>
          <a:bodyPr wrap="square" rtlCol="0" anchor="ctr"/>
          <a:lstStyle/>
          <a:p>
            <a:pPr indent="0" marL="0">
              <a:buNone/>
            </a:pPr>
            <a:r>
              <a:rPr lang="en-US" sz="1500" dirty="0">
                <a:solidFill>
                  <a:srgbClr val="0F3D28"/>
                </a:solidFill>
                <a:latin typeface="Calibri" pitchFamily="34" charset="0"/>
                <a:ea typeface="Calibri" pitchFamily="34" charset="-122"/>
                <a:cs typeface="Calibri" pitchFamily="34" charset="-120"/>
              </a:rPr>
              <a:t>La plateforme transforme l’agenda en outil de pilotage : le DGA dispose d’une vision claire de l’activité du cabinet.</a:t>
            </a:r>
            <a:endParaRPr lang="en-US" sz="1500" dirty="0"/>
          </a:p>
        </p:txBody>
      </p:sp>
      <p:sp>
        <p:nvSpPr>
          <p:cNvPr id="22" name="Shape 20"/>
          <p:cNvSpPr/>
          <p:nvPr/>
        </p:nvSpPr>
        <p:spPr>
          <a:xfrm>
            <a:off x="0" y="6537960"/>
            <a:ext cx="12191695" cy="320040"/>
          </a:xfrm>
          <a:prstGeom prst="rect">
            <a:avLst/>
          </a:prstGeom>
          <a:solidFill>
            <a:srgbClr val="E8F5EE"/>
          </a:solidFill>
          <a:ln w="12700">
            <a:solidFill>
              <a:srgbClr val="E8F5EE"/>
            </a:solidFill>
            <a:prstDash val="solid"/>
          </a:ln>
        </p:spPr>
      </p:sp>
      <p:sp>
        <p:nvSpPr>
          <p:cNvPr id="23" name="Text 21"/>
          <p:cNvSpPr/>
          <p:nvPr/>
        </p:nvSpPr>
        <p:spPr>
          <a:xfrm>
            <a:off x="457200" y="6565392"/>
            <a:ext cx="7315200" cy="256032"/>
          </a:xfrm>
          <a:prstGeom prst="rect">
            <a:avLst/>
          </a:prstGeom>
          <a:noFill/>
          <a:ln/>
        </p:spPr>
        <p:txBody>
          <a:bodyPr wrap="square" rtlCol="0" anchor="ctr"/>
          <a:lstStyle/>
          <a:p>
            <a:pPr indent="0" marL="0">
              <a:buNone/>
            </a:pPr>
            <a:r>
              <a:rPr lang="en-US" sz="1000" dirty="0">
                <a:solidFill>
                  <a:srgbClr val="5B6B63"/>
                </a:solidFill>
                <a:latin typeface="Calibri" pitchFamily="34" charset="0"/>
                <a:ea typeface="Calibri" pitchFamily="34" charset="-122"/>
                <a:cs typeface="Calibri" pitchFamily="34" charset="-120"/>
              </a:rPr>
              <a:t>ARPT / DG / DGA · Usage interne</a:t>
            </a:r>
            <a:endParaRPr lang="en-US" sz="1000" dirty="0"/>
          </a:p>
        </p:txBody>
      </p:sp>
      <p:sp>
        <p:nvSpPr>
          <p:cNvPr id="24" name="Text 22"/>
          <p:cNvSpPr/>
          <p:nvPr/>
        </p:nvSpPr>
        <p:spPr>
          <a:xfrm>
            <a:off x="10515600" y="6565392"/>
            <a:ext cx="1188720" cy="256032"/>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6 / 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64592" cy="6858000"/>
          </a:xfrm>
          <a:prstGeom prst="rect">
            <a:avLst/>
          </a:prstGeom>
          <a:solidFill>
            <a:srgbClr val="1B5E3B"/>
          </a:solidFill>
          <a:ln w="12700">
            <a:solidFill>
              <a:srgbClr val="1B5E3B"/>
            </a:solidFill>
            <a:prstDash val="solid"/>
          </a:ln>
        </p:spPr>
      </p:sp>
      <p:sp>
        <p:nvSpPr>
          <p:cNvPr id="4" name="Text 2"/>
          <p:cNvSpPr/>
          <p:nvPr/>
        </p:nvSpPr>
        <p:spPr>
          <a:xfrm>
            <a:off x="640080" y="320040"/>
            <a:ext cx="10515600" cy="365760"/>
          </a:xfrm>
          <a:prstGeom prst="rect">
            <a:avLst/>
          </a:prstGeom>
          <a:noFill/>
          <a:ln/>
        </p:spPr>
        <p:txBody>
          <a:bodyPr wrap="square" rtlCol="0" anchor="ctr"/>
          <a:lstStyle/>
          <a:p>
            <a:pPr indent="0" marL="0">
              <a:buNone/>
            </a:pPr>
            <a:r>
              <a:rPr lang="en-US" sz="1400" b="1" dirty="0">
                <a:solidFill>
                  <a:srgbClr val="1B5E3B"/>
                </a:solidFill>
                <a:latin typeface="Calibri" pitchFamily="34" charset="0"/>
                <a:ea typeface="Calibri" pitchFamily="34" charset="-122"/>
                <a:cs typeface="Calibri" pitchFamily="34" charset="-120"/>
              </a:rPr>
              <a:t>03  ·  L’intelligence artificielle</a:t>
            </a:r>
            <a:endParaRPr lang="en-US" sz="1400" dirty="0"/>
          </a:p>
        </p:txBody>
      </p:sp>
      <p:sp>
        <p:nvSpPr>
          <p:cNvPr id="5" name="Text 3"/>
          <p:cNvSpPr/>
          <p:nvPr/>
        </p:nvSpPr>
        <p:spPr>
          <a:xfrm>
            <a:off x="640080" y="685800"/>
            <a:ext cx="10515600" cy="502920"/>
          </a:xfrm>
          <a:prstGeom prst="rect">
            <a:avLst/>
          </a:prstGeom>
          <a:noFill/>
          <a:ln/>
        </p:spPr>
        <p:txBody>
          <a:bodyPr wrap="square" rtlCol="0" anchor="ctr"/>
          <a:lstStyle/>
          <a:p>
            <a:pPr indent="0" marL="0">
              <a:buNone/>
            </a:pPr>
            <a:r>
              <a:rPr lang="en-US" sz="2800" b="1" dirty="0">
                <a:solidFill>
                  <a:srgbClr val="0F3D28"/>
                </a:solidFill>
                <a:latin typeface="Calibri" pitchFamily="34" charset="0"/>
                <a:ea typeface="Calibri" pitchFamily="34" charset="-122"/>
                <a:cs typeface="Calibri" pitchFamily="34" charset="-120"/>
              </a:rPr>
              <a:t>Un assistant, pas un décideur</a:t>
            </a:r>
            <a:endParaRPr lang="en-US" sz="2800" dirty="0"/>
          </a:p>
        </p:txBody>
      </p:sp>
      <p:sp>
        <p:nvSpPr>
          <p:cNvPr id="6" name="Shape 4"/>
          <p:cNvSpPr/>
          <p:nvPr/>
        </p:nvSpPr>
        <p:spPr>
          <a:xfrm>
            <a:off x="640080" y="1371600"/>
            <a:ext cx="10881360" cy="1645920"/>
          </a:xfrm>
          <a:prstGeom prst="roundRect">
            <a:avLst>
              <a:gd name="adj" fmla="val 5556"/>
            </a:avLst>
          </a:prstGeom>
          <a:solidFill>
            <a:srgbClr val="E8F5EE"/>
          </a:solidFill>
          <a:ln w="12700">
            <a:solidFill>
              <a:srgbClr val="D5E5DB"/>
            </a:solidFill>
            <a:prstDash val="solid"/>
          </a:ln>
        </p:spPr>
      </p:sp>
      <p:sp>
        <p:nvSpPr>
          <p:cNvPr id="7" name="Text 5"/>
          <p:cNvSpPr/>
          <p:nvPr/>
        </p:nvSpPr>
        <p:spPr>
          <a:xfrm>
            <a:off x="868680" y="1554480"/>
            <a:ext cx="10424160" cy="1280160"/>
          </a:xfrm>
          <a:prstGeom prst="rect">
            <a:avLst/>
          </a:prstGeom>
          <a:noFill/>
          <a:ln/>
        </p:spPr>
        <p:txBody>
          <a:bodyPr wrap="square" rtlCol="0" anchor="ctr"/>
          <a:lstStyle/>
          <a:p>
            <a:pPr indent="0" marL="0">
              <a:buNone/>
            </a:pPr>
            <a:r>
              <a:rPr lang="en-US" sz="1600" dirty="0">
                <a:solidFill>
                  <a:srgbClr val="0F3D28"/>
                </a:solidFill>
                <a:latin typeface="Calibri" pitchFamily="34" charset="0"/>
                <a:ea typeface="Calibri" pitchFamily="34" charset="-122"/>
                <a:cs typeface="Calibri" pitchFamily="34" charset="-120"/>
              </a:rPr>
              <a:t>L’intelligence artificielle n’a pas vocation à remplacer les décisions du cabinet. Elle intervient uniquement comme un assistant pour aider à reformuler les demandes, détecter les conflits d’agenda, proposer des créneaux disponibles et préparer automatiquement le programme de la journée.</a:t>
            </a:r>
            <a:endParaRPr lang="en-US" sz="1600" dirty="0"/>
          </a:p>
        </p:txBody>
      </p:sp>
      <p:sp>
        <p:nvSpPr>
          <p:cNvPr id="8" name="Shape 6"/>
          <p:cNvSpPr/>
          <p:nvPr/>
        </p:nvSpPr>
        <p:spPr>
          <a:xfrm>
            <a:off x="640080" y="3291840"/>
            <a:ext cx="2651760" cy="2377440"/>
          </a:xfrm>
          <a:prstGeom prst="roundRect">
            <a:avLst>
              <a:gd name="adj" fmla="val 3846"/>
            </a:avLst>
          </a:prstGeom>
          <a:solidFill>
            <a:srgbClr val="FFFFFF"/>
          </a:solidFill>
          <a:ln w="12700">
            <a:solidFill>
              <a:srgbClr val="D5E5DB"/>
            </a:solidFill>
            <a:prstDash val="solid"/>
          </a:ln>
        </p:spPr>
      </p:sp>
      <p:sp>
        <p:nvSpPr>
          <p:cNvPr id="9" name="Text 7"/>
          <p:cNvSpPr/>
          <p:nvPr/>
        </p:nvSpPr>
        <p:spPr>
          <a:xfrm>
            <a:off x="822960" y="3611880"/>
            <a:ext cx="2286000" cy="457200"/>
          </a:xfrm>
          <a:prstGeom prst="rect">
            <a:avLst/>
          </a:prstGeom>
          <a:noFill/>
          <a:ln/>
        </p:spPr>
        <p:txBody>
          <a:bodyPr wrap="square" rtlCol="0" anchor="ctr"/>
          <a:lstStyle/>
          <a:p>
            <a:pPr indent="0" marL="0">
              <a:buNone/>
            </a:pPr>
            <a:r>
              <a:rPr lang="en-US" sz="1800" b="1" dirty="0">
                <a:solidFill>
                  <a:srgbClr val="1B5E3B"/>
                </a:solidFill>
                <a:latin typeface="Calibri" pitchFamily="34" charset="0"/>
                <a:ea typeface="Calibri" pitchFamily="34" charset="-122"/>
                <a:cs typeface="Calibri" pitchFamily="34" charset="-120"/>
              </a:rPr>
              <a:t>Reformuler</a:t>
            </a:r>
            <a:endParaRPr lang="en-US" sz="1800" dirty="0"/>
          </a:p>
        </p:txBody>
      </p:sp>
      <p:sp>
        <p:nvSpPr>
          <p:cNvPr id="10" name="Text 8"/>
          <p:cNvSpPr/>
          <p:nvPr/>
        </p:nvSpPr>
        <p:spPr>
          <a:xfrm>
            <a:off x="822960" y="4160520"/>
            <a:ext cx="2286000" cy="1097280"/>
          </a:xfrm>
          <a:prstGeom prst="rect">
            <a:avLst/>
          </a:prstGeom>
          <a:noFill/>
          <a:ln/>
        </p:spPr>
        <p:txBody>
          <a:bodyPr wrap="square" rtlCol="0" anchor="ctr"/>
          <a:lstStyle/>
          <a:p>
            <a:pPr indent="0" marL="0">
              <a:buNone/>
            </a:pPr>
            <a:r>
              <a:rPr lang="en-US" sz="1400" dirty="0">
                <a:solidFill>
                  <a:srgbClr val="5B6B63"/>
                </a:solidFill>
                <a:latin typeface="Calibri" pitchFamily="34" charset="0"/>
                <a:ea typeface="Calibri" pitchFamily="34" charset="-122"/>
                <a:cs typeface="Calibri" pitchFamily="34" charset="-120"/>
              </a:rPr>
              <a:t>Clarifier une demande sans en changer le sens.</a:t>
            </a:r>
            <a:endParaRPr lang="en-US" sz="1400" dirty="0"/>
          </a:p>
        </p:txBody>
      </p:sp>
      <p:sp>
        <p:nvSpPr>
          <p:cNvPr id="11" name="Shape 9"/>
          <p:cNvSpPr/>
          <p:nvPr/>
        </p:nvSpPr>
        <p:spPr>
          <a:xfrm>
            <a:off x="3429000" y="3291840"/>
            <a:ext cx="2651760" cy="2377440"/>
          </a:xfrm>
          <a:prstGeom prst="roundRect">
            <a:avLst>
              <a:gd name="adj" fmla="val 3846"/>
            </a:avLst>
          </a:prstGeom>
          <a:solidFill>
            <a:srgbClr val="FFFFFF"/>
          </a:solidFill>
          <a:ln w="12700">
            <a:solidFill>
              <a:srgbClr val="D5E5DB"/>
            </a:solidFill>
            <a:prstDash val="solid"/>
          </a:ln>
        </p:spPr>
      </p:sp>
      <p:sp>
        <p:nvSpPr>
          <p:cNvPr id="12" name="Text 10"/>
          <p:cNvSpPr/>
          <p:nvPr/>
        </p:nvSpPr>
        <p:spPr>
          <a:xfrm>
            <a:off x="3611880" y="3611880"/>
            <a:ext cx="2286000" cy="457200"/>
          </a:xfrm>
          <a:prstGeom prst="rect">
            <a:avLst/>
          </a:prstGeom>
          <a:noFill/>
          <a:ln/>
        </p:spPr>
        <p:txBody>
          <a:bodyPr wrap="square" rtlCol="0" anchor="ctr"/>
          <a:lstStyle/>
          <a:p>
            <a:pPr indent="0" marL="0">
              <a:buNone/>
            </a:pPr>
            <a:r>
              <a:rPr lang="en-US" sz="1800" b="1" dirty="0">
                <a:solidFill>
                  <a:srgbClr val="1B5E3B"/>
                </a:solidFill>
                <a:latin typeface="Calibri" pitchFamily="34" charset="0"/>
                <a:ea typeface="Calibri" pitchFamily="34" charset="-122"/>
                <a:cs typeface="Calibri" pitchFamily="34" charset="-120"/>
              </a:rPr>
              <a:t>Détecter</a:t>
            </a:r>
            <a:endParaRPr lang="en-US" sz="1800" dirty="0"/>
          </a:p>
        </p:txBody>
      </p:sp>
      <p:sp>
        <p:nvSpPr>
          <p:cNvPr id="13" name="Text 11"/>
          <p:cNvSpPr/>
          <p:nvPr/>
        </p:nvSpPr>
        <p:spPr>
          <a:xfrm>
            <a:off x="3611880" y="4160520"/>
            <a:ext cx="2286000" cy="1097280"/>
          </a:xfrm>
          <a:prstGeom prst="rect">
            <a:avLst/>
          </a:prstGeom>
          <a:noFill/>
          <a:ln/>
        </p:spPr>
        <p:txBody>
          <a:bodyPr wrap="square" rtlCol="0" anchor="ctr"/>
          <a:lstStyle/>
          <a:p>
            <a:pPr indent="0" marL="0">
              <a:buNone/>
            </a:pPr>
            <a:r>
              <a:rPr lang="en-US" sz="1400" dirty="0">
                <a:solidFill>
                  <a:srgbClr val="5B6B63"/>
                </a:solidFill>
                <a:latin typeface="Calibri" pitchFamily="34" charset="0"/>
                <a:ea typeface="Calibri" pitchFamily="34" charset="-122"/>
                <a:cs typeface="Calibri" pitchFamily="34" charset="-120"/>
              </a:rPr>
              <a:t>Signaler les conflits potentiels d’agenda.</a:t>
            </a:r>
            <a:endParaRPr lang="en-US" sz="1400" dirty="0"/>
          </a:p>
        </p:txBody>
      </p:sp>
      <p:sp>
        <p:nvSpPr>
          <p:cNvPr id="14" name="Shape 12"/>
          <p:cNvSpPr/>
          <p:nvPr/>
        </p:nvSpPr>
        <p:spPr>
          <a:xfrm>
            <a:off x="6217920" y="3291840"/>
            <a:ext cx="2651760" cy="2377440"/>
          </a:xfrm>
          <a:prstGeom prst="roundRect">
            <a:avLst>
              <a:gd name="adj" fmla="val 3846"/>
            </a:avLst>
          </a:prstGeom>
          <a:solidFill>
            <a:srgbClr val="FFFFFF"/>
          </a:solidFill>
          <a:ln w="12700">
            <a:solidFill>
              <a:srgbClr val="D5E5DB"/>
            </a:solidFill>
            <a:prstDash val="solid"/>
          </a:ln>
        </p:spPr>
      </p:sp>
      <p:sp>
        <p:nvSpPr>
          <p:cNvPr id="15" name="Text 13"/>
          <p:cNvSpPr/>
          <p:nvPr/>
        </p:nvSpPr>
        <p:spPr>
          <a:xfrm>
            <a:off x="6400800" y="3611880"/>
            <a:ext cx="2286000" cy="457200"/>
          </a:xfrm>
          <a:prstGeom prst="rect">
            <a:avLst/>
          </a:prstGeom>
          <a:noFill/>
          <a:ln/>
        </p:spPr>
        <p:txBody>
          <a:bodyPr wrap="square" rtlCol="0" anchor="ctr"/>
          <a:lstStyle/>
          <a:p>
            <a:pPr indent="0" marL="0">
              <a:buNone/>
            </a:pPr>
            <a:r>
              <a:rPr lang="en-US" sz="1800" b="1" dirty="0">
                <a:solidFill>
                  <a:srgbClr val="1B5E3B"/>
                </a:solidFill>
                <a:latin typeface="Calibri" pitchFamily="34" charset="0"/>
                <a:ea typeface="Calibri" pitchFamily="34" charset="-122"/>
                <a:cs typeface="Calibri" pitchFamily="34" charset="-120"/>
              </a:rPr>
              <a:t>Proposer</a:t>
            </a:r>
            <a:endParaRPr lang="en-US" sz="1800" dirty="0"/>
          </a:p>
        </p:txBody>
      </p:sp>
      <p:sp>
        <p:nvSpPr>
          <p:cNvPr id="16" name="Text 14"/>
          <p:cNvSpPr/>
          <p:nvPr/>
        </p:nvSpPr>
        <p:spPr>
          <a:xfrm>
            <a:off x="6400800" y="4160520"/>
            <a:ext cx="2286000" cy="1097280"/>
          </a:xfrm>
          <a:prstGeom prst="rect">
            <a:avLst/>
          </a:prstGeom>
          <a:noFill/>
          <a:ln/>
        </p:spPr>
        <p:txBody>
          <a:bodyPr wrap="square" rtlCol="0" anchor="ctr"/>
          <a:lstStyle/>
          <a:p>
            <a:pPr indent="0" marL="0">
              <a:buNone/>
            </a:pPr>
            <a:r>
              <a:rPr lang="en-US" sz="1400" dirty="0">
                <a:solidFill>
                  <a:srgbClr val="5B6B63"/>
                </a:solidFill>
                <a:latin typeface="Calibri" pitchFamily="34" charset="0"/>
                <a:ea typeface="Calibri" pitchFamily="34" charset="-122"/>
                <a:cs typeface="Calibri" pitchFamily="34" charset="-120"/>
              </a:rPr>
              <a:t>Suggérer des créneaux disponibles.</a:t>
            </a:r>
            <a:endParaRPr lang="en-US" sz="1400" dirty="0"/>
          </a:p>
        </p:txBody>
      </p:sp>
      <p:sp>
        <p:nvSpPr>
          <p:cNvPr id="17" name="Shape 15"/>
          <p:cNvSpPr/>
          <p:nvPr/>
        </p:nvSpPr>
        <p:spPr>
          <a:xfrm>
            <a:off x="9006840" y="3291840"/>
            <a:ext cx="2651760" cy="2377440"/>
          </a:xfrm>
          <a:prstGeom prst="roundRect">
            <a:avLst>
              <a:gd name="adj" fmla="val 3846"/>
            </a:avLst>
          </a:prstGeom>
          <a:solidFill>
            <a:srgbClr val="FFFFFF"/>
          </a:solidFill>
          <a:ln w="12700">
            <a:solidFill>
              <a:srgbClr val="D5E5DB"/>
            </a:solidFill>
            <a:prstDash val="solid"/>
          </a:ln>
        </p:spPr>
      </p:sp>
      <p:sp>
        <p:nvSpPr>
          <p:cNvPr id="18" name="Text 16"/>
          <p:cNvSpPr/>
          <p:nvPr/>
        </p:nvSpPr>
        <p:spPr>
          <a:xfrm>
            <a:off x="9189720" y="3611880"/>
            <a:ext cx="2286000" cy="457200"/>
          </a:xfrm>
          <a:prstGeom prst="rect">
            <a:avLst/>
          </a:prstGeom>
          <a:noFill/>
          <a:ln/>
        </p:spPr>
        <p:txBody>
          <a:bodyPr wrap="square" rtlCol="0" anchor="ctr"/>
          <a:lstStyle/>
          <a:p>
            <a:pPr indent="0" marL="0">
              <a:buNone/>
            </a:pPr>
            <a:r>
              <a:rPr lang="en-US" sz="1800" b="1" dirty="0">
                <a:solidFill>
                  <a:srgbClr val="1B5E3B"/>
                </a:solidFill>
                <a:latin typeface="Calibri" pitchFamily="34" charset="0"/>
                <a:ea typeface="Calibri" pitchFamily="34" charset="-122"/>
                <a:cs typeface="Calibri" pitchFamily="34" charset="-120"/>
              </a:rPr>
              <a:t>Préparer</a:t>
            </a:r>
            <a:endParaRPr lang="en-US" sz="1800" dirty="0"/>
          </a:p>
        </p:txBody>
      </p:sp>
      <p:sp>
        <p:nvSpPr>
          <p:cNvPr id="19" name="Text 17"/>
          <p:cNvSpPr/>
          <p:nvPr/>
        </p:nvSpPr>
        <p:spPr>
          <a:xfrm>
            <a:off x="9189720" y="4160520"/>
            <a:ext cx="2286000" cy="1097280"/>
          </a:xfrm>
          <a:prstGeom prst="rect">
            <a:avLst/>
          </a:prstGeom>
          <a:noFill/>
          <a:ln/>
        </p:spPr>
        <p:txBody>
          <a:bodyPr wrap="square" rtlCol="0" anchor="ctr"/>
          <a:lstStyle/>
          <a:p>
            <a:pPr indent="0" marL="0">
              <a:buNone/>
            </a:pPr>
            <a:r>
              <a:rPr lang="en-US" sz="1400" dirty="0">
                <a:solidFill>
                  <a:srgbClr val="5B6B63"/>
                </a:solidFill>
                <a:latin typeface="Calibri" pitchFamily="34" charset="0"/>
                <a:ea typeface="Calibri" pitchFamily="34" charset="-122"/>
                <a:cs typeface="Calibri" pitchFamily="34" charset="-120"/>
              </a:rPr>
              <a:t>Assister la préparation du programme quotidien.</a:t>
            </a:r>
            <a:endParaRPr lang="en-US" sz="1400" dirty="0"/>
          </a:p>
        </p:txBody>
      </p:sp>
      <p:sp>
        <p:nvSpPr>
          <p:cNvPr id="20" name="Shape 18"/>
          <p:cNvSpPr/>
          <p:nvPr/>
        </p:nvSpPr>
        <p:spPr>
          <a:xfrm>
            <a:off x="0" y="6537960"/>
            <a:ext cx="12191695" cy="320040"/>
          </a:xfrm>
          <a:prstGeom prst="rect">
            <a:avLst/>
          </a:prstGeom>
          <a:solidFill>
            <a:srgbClr val="E8F5EE"/>
          </a:solidFill>
          <a:ln w="12700">
            <a:solidFill>
              <a:srgbClr val="E8F5EE"/>
            </a:solidFill>
            <a:prstDash val="solid"/>
          </a:ln>
        </p:spPr>
      </p:sp>
      <p:sp>
        <p:nvSpPr>
          <p:cNvPr id="21" name="Text 19"/>
          <p:cNvSpPr/>
          <p:nvPr/>
        </p:nvSpPr>
        <p:spPr>
          <a:xfrm>
            <a:off x="457200" y="6565392"/>
            <a:ext cx="7315200" cy="256032"/>
          </a:xfrm>
          <a:prstGeom prst="rect">
            <a:avLst/>
          </a:prstGeom>
          <a:noFill/>
          <a:ln/>
        </p:spPr>
        <p:txBody>
          <a:bodyPr wrap="square" rtlCol="0" anchor="ctr"/>
          <a:lstStyle/>
          <a:p>
            <a:pPr indent="0" marL="0">
              <a:buNone/>
            </a:pPr>
            <a:r>
              <a:rPr lang="en-US" sz="1000" dirty="0">
                <a:solidFill>
                  <a:srgbClr val="5B6B63"/>
                </a:solidFill>
                <a:latin typeface="Calibri" pitchFamily="34" charset="0"/>
                <a:ea typeface="Calibri" pitchFamily="34" charset="-122"/>
                <a:cs typeface="Calibri" pitchFamily="34" charset="-120"/>
              </a:rPr>
              <a:t>ARPT / DG / DGA · Usage interne</a:t>
            </a:r>
            <a:endParaRPr lang="en-US" sz="1000" dirty="0"/>
          </a:p>
        </p:txBody>
      </p:sp>
      <p:sp>
        <p:nvSpPr>
          <p:cNvPr id="22" name="Text 20"/>
          <p:cNvSpPr/>
          <p:nvPr/>
        </p:nvSpPr>
        <p:spPr>
          <a:xfrm>
            <a:off x="10515600" y="6565392"/>
            <a:ext cx="1188720" cy="256032"/>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7 / 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64592" cy="6858000"/>
          </a:xfrm>
          <a:prstGeom prst="rect">
            <a:avLst/>
          </a:prstGeom>
          <a:solidFill>
            <a:srgbClr val="1B5E3B"/>
          </a:solidFill>
          <a:ln w="12700">
            <a:solidFill>
              <a:srgbClr val="1B5E3B"/>
            </a:solidFill>
            <a:prstDash val="solid"/>
          </a:ln>
        </p:spPr>
      </p:sp>
      <p:sp>
        <p:nvSpPr>
          <p:cNvPr id="4" name="Text 2"/>
          <p:cNvSpPr/>
          <p:nvPr/>
        </p:nvSpPr>
        <p:spPr>
          <a:xfrm>
            <a:off x="640080" y="320040"/>
            <a:ext cx="10515600" cy="365760"/>
          </a:xfrm>
          <a:prstGeom prst="rect">
            <a:avLst/>
          </a:prstGeom>
          <a:noFill/>
          <a:ln/>
        </p:spPr>
        <p:txBody>
          <a:bodyPr wrap="square" rtlCol="0" anchor="ctr"/>
          <a:lstStyle/>
          <a:p>
            <a:pPr indent="0" marL="0">
              <a:buNone/>
            </a:pPr>
            <a:r>
              <a:rPr lang="en-US" sz="1400" b="1" dirty="0">
                <a:solidFill>
                  <a:srgbClr val="1B5E3B"/>
                </a:solidFill>
                <a:latin typeface="Calibri" pitchFamily="34" charset="0"/>
                <a:ea typeface="Calibri" pitchFamily="34" charset="-122"/>
                <a:cs typeface="Calibri" pitchFamily="34" charset="-120"/>
              </a:rPr>
              <a:t>04  ·  Conclusion</a:t>
            </a:r>
            <a:endParaRPr lang="en-US" sz="1400" dirty="0"/>
          </a:p>
        </p:txBody>
      </p:sp>
      <p:sp>
        <p:nvSpPr>
          <p:cNvPr id="5" name="Text 3"/>
          <p:cNvSpPr/>
          <p:nvPr/>
        </p:nvSpPr>
        <p:spPr>
          <a:xfrm>
            <a:off x="640080" y="685800"/>
            <a:ext cx="10515600" cy="502920"/>
          </a:xfrm>
          <a:prstGeom prst="rect">
            <a:avLst/>
          </a:prstGeom>
          <a:noFill/>
          <a:ln/>
        </p:spPr>
        <p:txBody>
          <a:bodyPr wrap="square" rtlCol="0" anchor="ctr"/>
          <a:lstStyle/>
          <a:p>
            <a:pPr indent="0" marL="0">
              <a:buNone/>
            </a:pPr>
            <a:r>
              <a:rPr lang="en-US" sz="2800" b="1" dirty="0">
                <a:solidFill>
                  <a:srgbClr val="0F3D28"/>
                </a:solidFill>
                <a:latin typeface="Calibri" pitchFamily="34" charset="0"/>
                <a:ea typeface="Calibri" pitchFamily="34" charset="-122"/>
                <a:cs typeface="Calibri" pitchFamily="34" charset="-120"/>
              </a:rPr>
              <a:t>Moderniser sans complexifier</a:t>
            </a:r>
            <a:endParaRPr lang="en-US" sz="2800" dirty="0"/>
          </a:p>
        </p:txBody>
      </p:sp>
      <p:sp>
        <p:nvSpPr>
          <p:cNvPr id="6" name="Text 4"/>
          <p:cNvSpPr/>
          <p:nvPr/>
        </p:nvSpPr>
        <p:spPr>
          <a:xfrm>
            <a:off x="640080" y="1371600"/>
            <a:ext cx="10881360" cy="1645920"/>
          </a:xfrm>
          <a:prstGeom prst="rect">
            <a:avLst/>
          </a:prstGeom>
          <a:noFill/>
          <a:ln/>
        </p:spPr>
        <p:txBody>
          <a:bodyPr wrap="square" rtlCol="0" anchor="ctr"/>
          <a:lstStyle/>
          <a:p>
            <a:pPr indent="0" marL="0">
              <a:buNone/>
            </a:pPr>
            <a:r>
              <a:rPr lang="en-US" sz="1600" dirty="0">
                <a:solidFill>
                  <a:srgbClr val="0F3D28"/>
                </a:solidFill>
                <a:latin typeface="Calibri" pitchFamily="34" charset="0"/>
                <a:ea typeface="Calibri" pitchFamily="34" charset="-122"/>
                <a:cs typeface="Calibri" pitchFamily="34" charset="-120"/>
              </a:rPr>
              <a:t>L’objectif de cette solution est de moderniser la gestion de l’agenda du DGA en apportant trois bénéfices majeurs : un gain de temps significatif, une traçabilité complète des activités et une meilleure qualité de suivi des décisions. La plateforme permettra au cabinet de travailler de manière plus efficace, plus sécurisée et avec une meilleure visibilité sur l’ensemble des rendez-vous et des activités.</a:t>
            </a:r>
            <a:endParaRPr lang="en-US" sz="1600" dirty="0"/>
          </a:p>
        </p:txBody>
      </p:sp>
      <p:sp>
        <p:nvSpPr>
          <p:cNvPr id="7" name="Shape 5"/>
          <p:cNvSpPr/>
          <p:nvPr/>
        </p:nvSpPr>
        <p:spPr>
          <a:xfrm>
            <a:off x="640080" y="3291840"/>
            <a:ext cx="3520440" cy="2286000"/>
          </a:xfrm>
          <a:prstGeom prst="roundRect">
            <a:avLst>
              <a:gd name="adj" fmla="val 4000"/>
            </a:avLst>
          </a:prstGeom>
          <a:solidFill>
            <a:srgbClr val="E8F5EE"/>
          </a:solidFill>
          <a:ln w="12700">
            <a:solidFill>
              <a:srgbClr val="D5E5DB"/>
            </a:solidFill>
            <a:prstDash val="solid"/>
          </a:ln>
        </p:spPr>
      </p:sp>
      <p:sp>
        <p:nvSpPr>
          <p:cNvPr id="8" name="Text 6"/>
          <p:cNvSpPr/>
          <p:nvPr/>
        </p:nvSpPr>
        <p:spPr>
          <a:xfrm>
            <a:off x="868680" y="3840480"/>
            <a:ext cx="3063240" cy="502920"/>
          </a:xfrm>
          <a:prstGeom prst="rect">
            <a:avLst/>
          </a:prstGeom>
          <a:noFill/>
          <a:ln/>
        </p:spPr>
        <p:txBody>
          <a:bodyPr wrap="square" rtlCol="0" anchor="ctr"/>
          <a:lstStyle/>
          <a:p>
            <a:pPr algn="ctr" indent="0" marL="0">
              <a:buNone/>
            </a:pPr>
            <a:r>
              <a:rPr lang="en-US" sz="2000" b="1" dirty="0">
                <a:solidFill>
                  <a:srgbClr val="0F3D28"/>
                </a:solidFill>
                <a:latin typeface="Calibri" pitchFamily="34" charset="0"/>
                <a:ea typeface="Calibri" pitchFamily="34" charset="-122"/>
                <a:cs typeface="Calibri" pitchFamily="34" charset="-120"/>
              </a:rPr>
              <a:t>Plus efficace</a:t>
            </a:r>
            <a:endParaRPr lang="en-US" sz="2000" dirty="0"/>
          </a:p>
        </p:txBody>
      </p:sp>
      <p:sp>
        <p:nvSpPr>
          <p:cNvPr id="9" name="Text 7"/>
          <p:cNvSpPr/>
          <p:nvPr/>
        </p:nvSpPr>
        <p:spPr>
          <a:xfrm>
            <a:off x="868680" y="4434840"/>
            <a:ext cx="3063240" cy="640080"/>
          </a:xfrm>
          <a:prstGeom prst="rect">
            <a:avLst/>
          </a:prstGeom>
          <a:noFill/>
          <a:ln/>
        </p:spPr>
        <p:txBody>
          <a:bodyPr wrap="square" rtlCol="0" anchor="ctr"/>
          <a:lstStyle/>
          <a:p>
            <a:pPr algn="ctr" indent="0" marL="0">
              <a:buNone/>
            </a:pPr>
            <a:r>
              <a:rPr lang="en-US" sz="1500" dirty="0">
                <a:solidFill>
                  <a:srgbClr val="5B6B63"/>
                </a:solidFill>
                <a:latin typeface="Calibri" pitchFamily="34" charset="0"/>
                <a:ea typeface="Calibri" pitchFamily="34" charset="-122"/>
                <a:cs typeface="Calibri" pitchFamily="34" charset="-120"/>
              </a:rPr>
              <a:t>Moins de tâches répétitives</a:t>
            </a:r>
            <a:endParaRPr lang="en-US" sz="1500" dirty="0"/>
          </a:p>
        </p:txBody>
      </p:sp>
      <p:sp>
        <p:nvSpPr>
          <p:cNvPr id="10" name="Shape 8"/>
          <p:cNvSpPr/>
          <p:nvPr/>
        </p:nvSpPr>
        <p:spPr>
          <a:xfrm>
            <a:off x="4343400" y="3291840"/>
            <a:ext cx="3520440" cy="2286000"/>
          </a:xfrm>
          <a:prstGeom prst="roundRect">
            <a:avLst>
              <a:gd name="adj" fmla="val 4000"/>
            </a:avLst>
          </a:prstGeom>
          <a:solidFill>
            <a:srgbClr val="E8F5EE"/>
          </a:solidFill>
          <a:ln w="12700">
            <a:solidFill>
              <a:srgbClr val="D5E5DB"/>
            </a:solidFill>
            <a:prstDash val="solid"/>
          </a:ln>
        </p:spPr>
      </p:sp>
      <p:sp>
        <p:nvSpPr>
          <p:cNvPr id="11" name="Text 9"/>
          <p:cNvSpPr/>
          <p:nvPr/>
        </p:nvSpPr>
        <p:spPr>
          <a:xfrm>
            <a:off x="4572000" y="3840480"/>
            <a:ext cx="3063240" cy="502920"/>
          </a:xfrm>
          <a:prstGeom prst="rect">
            <a:avLst/>
          </a:prstGeom>
          <a:noFill/>
          <a:ln/>
        </p:spPr>
        <p:txBody>
          <a:bodyPr wrap="square" rtlCol="0" anchor="ctr"/>
          <a:lstStyle/>
          <a:p>
            <a:pPr algn="ctr" indent="0" marL="0">
              <a:buNone/>
            </a:pPr>
            <a:r>
              <a:rPr lang="en-US" sz="2000" b="1" dirty="0">
                <a:solidFill>
                  <a:srgbClr val="0F3D28"/>
                </a:solidFill>
                <a:latin typeface="Calibri" pitchFamily="34" charset="0"/>
                <a:ea typeface="Calibri" pitchFamily="34" charset="-122"/>
                <a:cs typeface="Calibri" pitchFamily="34" charset="-120"/>
              </a:rPr>
              <a:t>Plus sécurisée</a:t>
            </a:r>
            <a:endParaRPr lang="en-US" sz="2000" dirty="0"/>
          </a:p>
        </p:txBody>
      </p:sp>
      <p:sp>
        <p:nvSpPr>
          <p:cNvPr id="12" name="Text 10"/>
          <p:cNvSpPr/>
          <p:nvPr/>
        </p:nvSpPr>
        <p:spPr>
          <a:xfrm>
            <a:off x="4572000" y="4434840"/>
            <a:ext cx="3063240" cy="640080"/>
          </a:xfrm>
          <a:prstGeom prst="rect">
            <a:avLst/>
          </a:prstGeom>
          <a:noFill/>
          <a:ln/>
        </p:spPr>
        <p:txBody>
          <a:bodyPr wrap="square" rtlCol="0" anchor="ctr"/>
          <a:lstStyle/>
          <a:p>
            <a:pPr algn="ctr" indent="0" marL="0">
              <a:buNone/>
            </a:pPr>
            <a:r>
              <a:rPr lang="en-US" sz="1500" dirty="0">
                <a:solidFill>
                  <a:srgbClr val="5B6B63"/>
                </a:solidFill>
                <a:latin typeface="Calibri" pitchFamily="34" charset="0"/>
                <a:ea typeface="Calibri" pitchFamily="34" charset="-122"/>
                <a:cs typeface="Calibri" pitchFamily="34" charset="-120"/>
              </a:rPr>
              <a:t>Actions tracées et rôles contrôlés</a:t>
            </a:r>
            <a:endParaRPr lang="en-US" sz="1500" dirty="0"/>
          </a:p>
        </p:txBody>
      </p:sp>
      <p:sp>
        <p:nvSpPr>
          <p:cNvPr id="13" name="Shape 11"/>
          <p:cNvSpPr/>
          <p:nvPr/>
        </p:nvSpPr>
        <p:spPr>
          <a:xfrm>
            <a:off x="8046720" y="3291840"/>
            <a:ext cx="3520440" cy="2286000"/>
          </a:xfrm>
          <a:prstGeom prst="roundRect">
            <a:avLst>
              <a:gd name="adj" fmla="val 4000"/>
            </a:avLst>
          </a:prstGeom>
          <a:solidFill>
            <a:srgbClr val="E8F5EE"/>
          </a:solidFill>
          <a:ln w="12700">
            <a:solidFill>
              <a:srgbClr val="D5E5DB"/>
            </a:solidFill>
            <a:prstDash val="solid"/>
          </a:ln>
        </p:spPr>
      </p:sp>
      <p:sp>
        <p:nvSpPr>
          <p:cNvPr id="14" name="Text 12"/>
          <p:cNvSpPr/>
          <p:nvPr/>
        </p:nvSpPr>
        <p:spPr>
          <a:xfrm>
            <a:off x="8275320" y="3840480"/>
            <a:ext cx="3063240" cy="502920"/>
          </a:xfrm>
          <a:prstGeom prst="rect">
            <a:avLst/>
          </a:prstGeom>
          <a:noFill/>
          <a:ln/>
        </p:spPr>
        <p:txBody>
          <a:bodyPr wrap="square" rtlCol="0" anchor="ctr"/>
          <a:lstStyle/>
          <a:p>
            <a:pPr algn="ctr" indent="0" marL="0">
              <a:buNone/>
            </a:pPr>
            <a:r>
              <a:rPr lang="en-US" sz="2000" b="1" dirty="0">
                <a:solidFill>
                  <a:srgbClr val="0F3D28"/>
                </a:solidFill>
                <a:latin typeface="Calibri" pitchFamily="34" charset="0"/>
                <a:ea typeface="Calibri" pitchFamily="34" charset="-122"/>
                <a:cs typeface="Calibri" pitchFamily="34" charset="-120"/>
              </a:rPr>
              <a:t>Plus visible</a:t>
            </a:r>
            <a:endParaRPr lang="en-US" sz="2000" dirty="0"/>
          </a:p>
        </p:txBody>
      </p:sp>
      <p:sp>
        <p:nvSpPr>
          <p:cNvPr id="15" name="Text 13"/>
          <p:cNvSpPr/>
          <p:nvPr/>
        </p:nvSpPr>
        <p:spPr>
          <a:xfrm>
            <a:off x="8275320" y="4434840"/>
            <a:ext cx="3063240" cy="640080"/>
          </a:xfrm>
          <a:prstGeom prst="rect">
            <a:avLst/>
          </a:prstGeom>
          <a:noFill/>
          <a:ln/>
        </p:spPr>
        <p:txBody>
          <a:bodyPr wrap="square" rtlCol="0" anchor="ctr"/>
          <a:lstStyle/>
          <a:p>
            <a:pPr algn="ctr" indent="0" marL="0">
              <a:buNone/>
            </a:pPr>
            <a:r>
              <a:rPr lang="en-US" sz="1500" dirty="0">
                <a:solidFill>
                  <a:srgbClr val="5B6B63"/>
                </a:solidFill>
                <a:latin typeface="Calibri" pitchFamily="34" charset="0"/>
                <a:ea typeface="Calibri" pitchFamily="34" charset="-122"/>
                <a:cs typeface="Calibri" pitchFamily="34" charset="-120"/>
              </a:rPr>
              <a:t>Pilotage clair de l’activité</a:t>
            </a:r>
            <a:endParaRPr lang="en-US" sz="1500" dirty="0"/>
          </a:p>
        </p:txBody>
      </p:sp>
      <p:sp>
        <p:nvSpPr>
          <p:cNvPr id="16" name="Shape 14"/>
          <p:cNvSpPr/>
          <p:nvPr/>
        </p:nvSpPr>
        <p:spPr>
          <a:xfrm>
            <a:off x="0" y="6537960"/>
            <a:ext cx="12191695" cy="320040"/>
          </a:xfrm>
          <a:prstGeom prst="rect">
            <a:avLst/>
          </a:prstGeom>
          <a:solidFill>
            <a:srgbClr val="E8F5EE"/>
          </a:solidFill>
          <a:ln w="12700">
            <a:solidFill>
              <a:srgbClr val="E8F5EE"/>
            </a:solidFill>
            <a:prstDash val="solid"/>
          </a:ln>
        </p:spPr>
      </p:sp>
      <p:sp>
        <p:nvSpPr>
          <p:cNvPr id="17" name="Text 15"/>
          <p:cNvSpPr/>
          <p:nvPr/>
        </p:nvSpPr>
        <p:spPr>
          <a:xfrm>
            <a:off x="457200" y="6565392"/>
            <a:ext cx="7315200" cy="256032"/>
          </a:xfrm>
          <a:prstGeom prst="rect">
            <a:avLst/>
          </a:prstGeom>
          <a:noFill/>
          <a:ln/>
        </p:spPr>
        <p:txBody>
          <a:bodyPr wrap="square" rtlCol="0" anchor="ctr"/>
          <a:lstStyle/>
          <a:p>
            <a:pPr indent="0" marL="0">
              <a:buNone/>
            </a:pPr>
            <a:r>
              <a:rPr lang="en-US" sz="1000" dirty="0">
                <a:solidFill>
                  <a:srgbClr val="5B6B63"/>
                </a:solidFill>
                <a:latin typeface="Calibri" pitchFamily="34" charset="0"/>
                <a:ea typeface="Calibri" pitchFamily="34" charset="-122"/>
                <a:cs typeface="Calibri" pitchFamily="34" charset="-120"/>
              </a:rPr>
              <a:t>ARPT / DG / DGA · Usage interne</a:t>
            </a:r>
            <a:endParaRPr lang="en-US" sz="1000" dirty="0"/>
          </a:p>
        </p:txBody>
      </p:sp>
      <p:sp>
        <p:nvSpPr>
          <p:cNvPr id="18" name="Text 16"/>
          <p:cNvSpPr/>
          <p:nvPr/>
        </p:nvSpPr>
        <p:spPr>
          <a:xfrm>
            <a:off x="10515600" y="6565392"/>
            <a:ext cx="1188720" cy="256032"/>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8 / 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3D28"/>
          </a:solidFill>
          <a:ln w="12700">
            <a:solidFill>
              <a:srgbClr val="0F3D28"/>
            </a:solidFill>
            <a:prstDash val="solid"/>
          </a:ln>
        </p:spPr>
      </p:sp>
      <p:sp>
        <p:nvSpPr>
          <p:cNvPr id="3" name="Text 1"/>
          <p:cNvSpPr/>
          <p:nvPr/>
        </p:nvSpPr>
        <p:spPr>
          <a:xfrm>
            <a:off x="914400" y="1463040"/>
            <a:ext cx="10332720" cy="411480"/>
          </a:xfrm>
          <a:prstGeom prst="rect">
            <a:avLst/>
          </a:prstGeom>
          <a:noFill/>
          <a:ln/>
        </p:spPr>
        <p:txBody>
          <a:bodyPr wrap="square" rtlCol="0" anchor="ctr"/>
          <a:lstStyle/>
          <a:p>
            <a:pPr indent="0" marL="0">
              <a:buNone/>
            </a:pPr>
            <a:r>
              <a:rPr lang="en-US" sz="1600" dirty="0">
                <a:solidFill>
                  <a:srgbClr val="A8D5BE"/>
                </a:solidFill>
                <a:latin typeface="Calibri" pitchFamily="34" charset="0"/>
                <a:ea typeface="Calibri" pitchFamily="34" charset="-122"/>
                <a:cs typeface="Calibri" pitchFamily="34" charset="-120"/>
              </a:rPr>
              <a:t>Une phrase qui marque</a:t>
            </a:r>
            <a:endParaRPr lang="en-US" sz="1600" dirty="0"/>
          </a:p>
        </p:txBody>
      </p:sp>
      <p:sp>
        <p:nvSpPr>
          <p:cNvPr id="4" name="Text 2"/>
          <p:cNvSpPr/>
          <p:nvPr/>
        </p:nvSpPr>
        <p:spPr>
          <a:xfrm>
            <a:off x="914400" y="2103120"/>
            <a:ext cx="10332720" cy="23774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 Aujourd’hui, nous ne proposons pas simplement un agenda numérique. Nous proposons un outil de pilotage qui transforme l’organisation du cabinet en un processus plus rapide, plus transparent et plus efficace. »</a:t>
            </a:r>
            <a:endParaRPr lang="en-US" sz="2600" dirty="0"/>
          </a:p>
        </p:txBody>
      </p:sp>
      <p:sp>
        <p:nvSpPr>
          <p:cNvPr id="5" name="Text 3"/>
          <p:cNvSpPr/>
          <p:nvPr/>
        </p:nvSpPr>
        <p:spPr>
          <a:xfrm>
            <a:off x="914400" y="5120640"/>
            <a:ext cx="10332720" cy="365760"/>
          </a:xfrm>
          <a:prstGeom prst="rect">
            <a:avLst/>
          </a:prstGeom>
          <a:noFill/>
          <a:ln/>
        </p:spPr>
        <p:txBody>
          <a:bodyPr wrap="square" rtlCol="0" anchor="ctr"/>
          <a:lstStyle/>
          <a:p>
            <a:pPr indent="0" marL="0">
              <a:buNone/>
            </a:pPr>
            <a:r>
              <a:rPr lang="en-US" sz="1400" dirty="0">
                <a:solidFill>
                  <a:srgbClr val="D7EDE2"/>
                </a:solidFill>
                <a:latin typeface="Calibri" pitchFamily="34" charset="0"/>
                <a:ea typeface="Calibri" pitchFamily="34" charset="-122"/>
                <a:cs typeface="Calibri" pitchFamily="34" charset="-120"/>
              </a:rPr>
              <a:t>ARPT / DG / DGA  ·  06 août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de gestion de l’agenda du DGA</dc:title>
  <dc:subject>Gain de temps, traçabilité et aide à la décision</dc:subject>
  <dc:creator>Cabinet DG / ARPT</dc:creator>
  <cp:lastModifiedBy>Cabinet DG / ARPT</cp:lastModifiedBy>
  <cp:revision>1</cp:revision>
  <dcterms:created xsi:type="dcterms:W3CDTF">2026-08-06T10:38:32Z</dcterms:created>
  <dcterms:modified xsi:type="dcterms:W3CDTF">2026-08-06T10:38:32Z</dcterms:modified>
</cp:coreProperties>
</file>