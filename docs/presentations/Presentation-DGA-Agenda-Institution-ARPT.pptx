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8016"/>
            <a:ext cx="12191695" cy="54864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82880"/>
            <a:ext cx="12191695" cy="54864"/>
          </a:xfrm>
          <a:prstGeom prst="rect">
            <a:avLst/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" y="356616"/>
            <a:ext cx="2340864" cy="978408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2700">
            <a:solidFill>
              <a:srgbClr val="D7E3DA"/>
            </a:solidFill>
            <a:prstDash val="solid"/>
          </a:ln>
        </p:spPr>
      </p:sp>
      <p:pic>
        <p:nvPicPr>
          <p:cNvPr id="7" name="Image 0" descr="C:\Users\kaba.abdoulaye\Downloads\pointage\scripts\arpt-logo-sourc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2194560" cy="868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0" y="4572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gestion de l’agenda du DGA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2926080" y="9601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outil de pilotage pour l’institution  ·  Gain de temps  ·  Traçabilité  ·  Visibilité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1554480"/>
            <a:ext cx="111556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7E3DA"/>
            </a:solidFill>
            <a:prstDash val="solid"/>
          </a:ln>
        </p:spPr>
      </p:sp>
      <p:pic>
        <p:nvPicPr>
          <p:cNvPr id="11" name="Image 1" descr="C:\Users\kaba.abdoulaye\Downloads\pointage\docs\presentations\captures\la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627632"/>
            <a:ext cx="11009376" cy="40507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60" y="569671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institutionnel — Connexion sécurisée · Traçabilité complète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— ARPT / DG / DGA · Usage interne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042416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64008" cy="6858000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73768" y="201168"/>
            <a:ext cx="215798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DA"/>
            </a:solidFill>
            <a:prstDash val="solid"/>
          </a:ln>
        </p:spPr>
      </p:sp>
      <p:pic>
        <p:nvPicPr>
          <p:cNvPr id="6" name="Image 0" descr="C:\Users\kaba.abdoulaye\Downloads\pointage\scripts\arpt-logo-sourc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6032"/>
            <a:ext cx="2011680" cy="8046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Le contexte actuel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5943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limites naturelles de l’organisation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502920" y="1097280"/>
            <a:ext cx="5394960" cy="4937760"/>
          </a:xfrm>
          <a:prstGeom prst="roundRect">
            <a:avLst>
              <a:gd name="adj" fmla="val 1852"/>
            </a:avLst>
          </a:prstGeom>
          <a:solidFill>
            <a:srgbClr val="F4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132588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Monsieur le Directeur Général Adjoint, aujourd’hui la gestion de l’agenda et des activités de l’institution repose souvent sur plusieurs canaux : courriers, appels, WhatsApp ou mails.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Cela rend parfois le suivi difficile, allonge le temps de traitement et complique la recherche d’informations lorsqu’il faut revenir sur un ancien rendez-vous ou un dossier.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416052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Canaux multiples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439826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dispersées sur plusieurs supports.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475488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fragmenté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499262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d’une demande peu visible immédiatement.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" y="534924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dispersée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1520" y="558698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lente d’un ancien RDV ou courrier.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26480" y="1097280"/>
            <a:ext cx="553212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7E3DA"/>
            </a:solidFill>
            <a:prstDash val="solid"/>
          </a:ln>
        </p:spPr>
      </p:sp>
      <p:pic>
        <p:nvPicPr>
          <p:cNvPr id="18" name="Image 1" descr="C:\Users\kaba.abdoulaye\Downloads\pointage\docs\presentations\captures\mail-fo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170432"/>
            <a:ext cx="5385816" cy="455371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217920" y="5742432"/>
            <a:ext cx="5349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— Enregistrement structuré d’un courrier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— ARPT / DG / DGA · Usage interne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042416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64008" cy="6858000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73768" y="146304"/>
            <a:ext cx="2112264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E3DA"/>
            </a:solidFill>
            <a:prstDash val="solid"/>
          </a:ln>
        </p:spPr>
      </p:sp>
      <p:pic>
        <p:nvPicPr>
          <p:cNvPr id="6" name="Image 0" descr="C:\Users\kaba.abdoulaye\Downloads\pointage\scripts\arpt-logo-sourc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01168"/>
            <a:ext cx="1965960" cy="7498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2860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Le périmètre de la plateforme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754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métier de l’institution — vues réelles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65760" y="960120"/>
            <a:ext cx="37947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7E3DA"/>
            </a:solidFill>
            <a:prstDash val="solid"/>
          </a:ln>
        </p:spPr>
      </p:sp>
      <p:pic>
        <p:nvPicPr>
          <p:cNvPr id="10" name="Image 1" descr="C:\Users\kaba.abdoulaye\Downloads\pointage\docs\presentations\captures\mail-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033272"/>
            <a:ext cx="3648456" cy="28620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3913632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Courriers — tableau de board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297680" y="960120"/>
            <a:ext cx="37947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7E3DA"/>
            </a:solidFill>
            <a:prstDash val="solid"/>
          </a:ln>
        </p:spPr>
      </p:sp>
      <p:pic>
        <p:nvPicPr>
          <p:cNvPr id="13" name="Image 2" descr="C:\Users\kaba.abdoulaye\Downloads\pointage\docs\presentations\captures\missions-syn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033272"/>
            <a:ext cx="3648456" cy="28620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389120" y="3913632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&amp; navigation annuelle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229600" y="96012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7E3DA"/>
            </a:solidFill>
            <a:prstDash val="solid"/>
          </a:ln>
        </p:spPr>
      </p:sp>
      <p:pic>
        <p:nvPicPr>
          <p:cNvPr id="16" name="Image 3" descr="C:\Users\kaba.abdoulaye\Downloads\pointage\docs\presentations\captures\rdv-sal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1033272"/>
            <a:ext cx="3419856" cy="28620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321040" y="391363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RDV + réservation de salle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11480" y="4434840"/>
            <a:ext cx="2788920" cy="640080"/>
          </a:xfrm>
          <a:prstGeom prst="roundRect">
            <a:avLst>
              <a:gd name="adj" fmla="val 11429"/>
            </a:avLst>
          </a:prstGeom>
          <a:solidFill>
            <a:srgbClr val="F4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11480" y="4434840"/>
            <a:ext cx="109728" cy="640080"/>
          </a:xfrm>
          <a:prstGeom prst="rect">
            <a:avLst/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40080" y="459943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Rendez-vous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3337560" y="4434840"/>
            <a:ext cx="2788920" cy="640080"/>
          </a:xfrm>
          <a:prstGeom prst="roundRect">
            <a:avLst>
              <a:gd name="adj" fmla="val 11429"/>
            </a:avLst>
          </a:prstGeom>
          <a:solidFill>
            <a:srgbClr val="F4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3337560" y="4434840"/>
            <a:ext cx="109728" cy="6400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566160" y="459943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RDV personnels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263640" y="4434840"/>
            <a:ext cx="2788920" cy="640080"/>
          </a:xfrm>
          <a:prstGeom prst="roundRect">
            <a:avLst>
              <a:gd name="adj" fmla="val 11429"/>
            </a:avLst>
          </a:prstGeom>
          <a:solidFill>
            <a:srgbClr val="F4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263640" y="4434840"/>
            <a:ext cx="109728" cy="640080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492240" y="459943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9189720" y="4434840"/>
            <a:ext cx="2788920" cy="640080"/>
          </a:xfrm>
          <a:prstGeom prst="roundRect">
            <a:avLst>
              <a:gd name="adj" fmla="val 11429"/>
            </a:avLst>
          </a:prstGeom>
          <a:solidFill>
            <a:srgbClr val="F4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189720" y="4434840"/>
            <a:ext cx="109728" cy="640080"/>
          </a:xfrm>
          <a:prstGeom prst="rect">
            <a:avLst/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9418320" y="459943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stratégiques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411480" y="5212080"/>
            <a:ext cx="2788920" cy="640080"/>
          </a:xfrm>
          <a:prstGeom prst="roundRect">
            <a:avLst>
              <a:gd name="adj" fmla="val 11429"/>
            </a:avLst>
          </a:prstGeom>
          <a:solidFill>
            <a:srgbClr val="F4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11480" y="5212080"/>
            <a:ext cx="109728" cy="640080"/>
          </a:xfrm>
          <a:prstGeom prst="rect">
            <a:avLst/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40080" y="537667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de salles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3337560" y="5212080"/>
            <a:ext cx="2788920" cy="640080"/>
          </a:xfrm>
          <a:prstGeom prst="roundRect">
            <a:avLst>
              <a:gd name="adj" fmla="val 11429"/>
            </a:avLst>
          </a:prstGeom>
          <a:solidFill>
            <a:srgbClr val="F4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3337560" y="5212080"/>
            <a:ext cx="109728" cy="6400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3566160" y="537667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Courriers</a:t>
            </a:r>
            <a:endParaRPr lang="en-US" sz="1300" dirty="0"/>
          </a:p>
        </p:txBody>
      </p:sp>
      <p:sp>
        <p:nvSpPr>
          <p:cNvPr id="36" name="Shape 30"/>
          <p:cNvSpPr/>
          <p:nvPr/>
        </p:nvSpPr>
        <p:spPr>
          <a:xfrm>
            <a:off x="6263640" y="5212080"/>
            <a:ext cx="2788920" cy="640080"/>
          </a:xfrm>
          <a:prstGeom prst="roundRect">
            <a:avLst>
              <a:gd name="adj" fmla="val 11429"/>
            </a:avLst>
          </a:prstGeom>
          <a:solidFill>
            <a:srgbClr val="F4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6263640" y="5212080"/>
            <a:ext cx="109728" cy="640080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6492240" y="537667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annuelle</a:t>
            </a:r>
            <a:endParaRPr lang="en-US" sz="1300" dirty="0"/>
          </a:p>
        </p:txBody>
      </p:sp>
      <p:sp>
        <p:nvSpPr>
          <p:cNvPr id="39" name="Shape 33"/>
          <p:cNvSpPr/>
          <p:nvPr/>
        </p:nvSpPr>
        <p:spPr>
          <a:xfrm>
            <a:off x="9189720" y="5212080"/>
            <a:ext cx="2788920" cy="640080"/>
          </a:xfrm>
          <a:prstGeom prst="roundRect">
            <a:avLst>
              <a:gd name="adj" fmla="val 11429"/>
            </a:avLst>
          </a:prstGeom>
          <a:solidFill>
            <a:srgbClr val="F4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9189720" y="5212080"/>
            <a:ext cx="109728" cy="640080"/>
          </a:xfrm>
          <a:prstGeom prst="rect">
            <a:avLst/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9418320" y="537667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&amp; suivi</a:t>
            </a:r>
            <a:endParaRPr lang="en-US" sz="1300" dirty="0"/>
          </a:p>
        </p:txBody>
      </p:sp>
      <p:sp>
        <p:nvSpPr>
          <p:cNvPr id="42" name="Shape 3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— ARPT / DG / DGA · Usage interne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1042416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64008" cy="6858000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73768" y="146304"/>
            <a:ext cx="2112264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E3DA"/>
            </a:solidFill>
            <a:prstDash val="solid"/>
          </a:ln>
        </p:spPr>
      </p:sp>
      <p:pic>
        <p:nvPicPr>
          <p:cNvPr id="6" name="Image 0" descr="C:\Users\kaba.abdoulaye\Downloads\pointage\scripts\arpt-logo-sourc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01168"/>
            <a:ext cx="1965960" cy="7498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2860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Les bénéfices pour l’institution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754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 temps · Traçabilité · Aide à la décision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65760" y="960120"/>
            <a:ext cx="2606040" cy="5074920"/>
          </a:xfrm>
          <a:prstGeom prst="roundRect">
            <a:avLst>
              <a:gd name="adj" fmla="val 2807"/>
            </a:avLst>
          </a:prstGeom>
          <a:solidFill>
            <a:srgbClr val="F4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960120"/>
            <a:ext cx="2606040" cy="91440"/>
          </a:xfrm>
          <a:prstGeom prst="rect">
            <a:avLst/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1188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 temps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2920" y="1691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Demande en quelques minutes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23317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Recherche en quelques secondes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29718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Disponibilités DGA immédiates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" y="3611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Anti-doublon &amp; notifications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2920" y="4251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Programme quotidien généré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063240" y="960120"/>
            <a:ext cx="2606040" cy="50749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063240" y="960120"/>
            <a:ext cx="2606040" cy="91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0" y="1188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200400" y="1691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Demande enregistrée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200400" y="23317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Modifications historisées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200400" y="29718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Auteur / date / heure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200400" y="3611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Documents conservés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200400" y="4251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Contrôle par rôle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760720" y="960120"/>
            <a:ext cx="2606040" cy="5074920"/>
          </a:xfrm>
          <a:prstGeom prst="roundRect">
            <a:avLst>
              <a:gd name="adj" fmla="val 2807"/>
            </a:avLst>
          </a:prstGeom>
          <a:solidFill>
            <a:srgbClr val="F4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760720" y="960120"/>
            <a:ext cx="2606040" cy="91440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97880" y="1188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à la décision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5897880" y="1691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Volume de RDV / semaine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897880" y="23317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Institutions les plus reçues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897880" y="29718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Délai moyen de traitement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897880" y="3611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Périodes chargées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897880" y="4251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Dossiers en attente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503920" y="960120"/>
            <a:ext cx="3246120" cy="50749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7E3DA"/>
            </a:solidFill>
            <a:prstDash val="solid"/>
          </a:ln>
        </p:spPr>
      </p:sp>
      <p:pic>
        <p:nvPicPr>
          <p:cNvPr id="34" name="Image 1" descr="C:\Users\kaba.abdoulaye\Downloads\pointage\docs\presentations\captures\mail-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072" y="1033272"/>
            <a:ext cx="3099816" cy="4690872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8595360" y="5742432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live — délais &amp; priorités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— ARPT / DG / DGA · Usage interne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1042416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64008" cy="6858000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73768" y="146304"/>
            <a:ext cx="2112264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E3DA"/>
            </a:solidFill>
            <a:prstDash val="solid"/>
          </a:ln>
        </p:spPr>
      </p:sp>
      <p:pic>
        <p:nvPicPr>
          <p:cNvPr id="6" name="Image 0" descr="C:\Users\kaba.abdoulaye\Downloads\pointage\scripts\arpt-logo-sourc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01168"/>
            <a:ext cx="1965960" cy="7498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2860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Conclusion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754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Moderniser le pilotage de l’institution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57200" y="960120"/>
            <a:ext cx="6675120" cy="2148840"/>
          </a:xfrm>
          <a:prstGeom prst="roundRect">
            <a:avLst>
              <a:gd name="adj" fmla="val 4255"/>
            </a:avLst>
          </a:prstGeom>
          <a:solidFill>
            <a:srgbClr val="F4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1143000"/>
            <a:ext cx="62636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L’objectif est de moderniser la gestion de l’agenda et des activités du DGA avec trois bénéfices majeurs : un gain de temps significatif, une traçabilité complète et une meilleure qualité de suivi. L’institution gagne en efficacité, en sécurité et en visibilité.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0" y="960120"/>
            <a:ext cx="4389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3DA"/>
            </a:solidFill>
            <a:prstDash val="solid"/>
          </a:ln>
        </p:spPr>
      </p:sp>
      <p:pic>
        <p:nvPicPr>
          <p:cNvPr id="12" name="Image 1" descr="C:\Users\kaba.abdoulaye\Downloads\pointage\docs\presentations\captures\missions-sy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2" y="1033272"/>
            <a:ext cx="4242816" cy="17647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281635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annuel missions / agenda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29184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5800" y="3474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L’IA comme assistant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85800" y="38862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n’a pas vocation à remplacer les décisions. Elle aide à reformuler, détecter les conflits, proposer des créneaux et préparer le programme de la journée.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035040" y="3291840"/>
            <a:ext cx="5669280" cy="1691640"/>
          </a:xfrm>
          <a:prstGeom prst="roundRect">
            <a:avLst>
              <a:gd name="adj" fmla="val 5405"/>
            </a:avLst>
          </a:prstGeom>
          <a:solidFill>
            <a:srgbClr val="0F4A24"/>
          </a:solidFill>
          <a:ln w="12700">
            <a:solidFill>
              <a:srgbClr val="0F4A2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309360" y="3520440"/>
            <a:ext cx="5166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Nous ne proposons pas simplement un agenda numérique. Nous proposons un outil de pilotage qui rend l’organisation de l’institution plus rapide, plus transparente et plus efficace. »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57200" y="521208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4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57200" y="5303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457200" y="5623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tâches répétitives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297680" y="521208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4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297680" y="5303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4297680" y="5623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action historisée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138160" y="521208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4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138160" y="5303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8138160" y="5623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annuel &amp; modules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— ARPT / DG / DGA · Usage interne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1042416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Plateforme de gestion de l’agenda du DGA</dc:title>
  <dc:subject>Institution · Gain de temps · Traçabilité · Modules métier</dc:subject>
  <dc:creator>ARPT / DG / DGA</dc:creator>
  <cp:lastModifiedBy>ARPT / DG / DGA</cp:lastModifiedBy>
  <cp:revision>1</cp:revision>
  <dcterms:created xsi:type="dcterms:W3CDTF">2026-08-06T11:30:55Z</dcterms:created>
  <dcterms:modified xsi:type="dcterms:W3CDTF">2026-08-06T11:30:55Z</dcterms:modified>
</cp:coreProperties>
</file>